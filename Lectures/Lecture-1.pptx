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9" r:id="rId3"/>
    <p:sldId id="312" r:id="rId4"/>
    <p:sldId id="260" r:id="rId5"/>
    <p:sldId id="257" r:id="rId6"/>
    <p:sldId id="299" r:id="rId7"/>
    <p:sldId id="301" r:id="rId8"/>
    <p:sldId id="302" r:id="rId9"/>
    <p:sldId id="305" r:id="rId10"/>
    <p:sldId id="304" r:id="rId11"/>
    <p:sldId id="310" r:id="rId12"/>
    <p:sldId id="324" r:id="rId13"/>
    <p:sldId id="325" r:id="rId14"/>
    <p:sldId id="323" r:id="rId15"/>
    <p:sldId id="316" r:id="rId16"/>
    <p:sldId id="313" r:id="rId17"/>
    <p:sldId id="322" r:id="rId18"/>
    <p:sldId id="314" r:id="rId19"/>
    <p:sldId id="315" r:id="rId20"/>
    <p:sldId id="306" r:id="rId21"/>
    <p:sldId id="311" r:id="rId22"/>
    <p:sldId id="326" r:id="rId23"/>
    <p:sldId id="327" r:id="rId24"/>
    <p:sldId id="329" r:id="rId25"/>
    <p:sldId id="330" r:id="rId26"/>
    <p:sldId id="317" r:id="rId27"/>
    <p:sldId id="318" r:id="rId28"/>
    <p:sldId id="320" r:id="rId29"/>
    <p:sldId id="319" r:id="rId30"/>
    <p:sldId id="328" r:id="rId31"/>
    <p:sldId id="303" r:id="rId32"/>
    <p:sldId id="307" r:id="rId33"/>
    <p:sldId id="274" r:id="rId34"/>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81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5F6F7"/>
          </a:solidFill>
        </p:spPr>
        <p:txBody>
          <a:bodyPr wrap="square" lIns="0" tIns="0" rIns="0" bIns="0" rtlCol="0"/>
          <a:lstStyle/>
          <a:p>
            <a:endParaRPr/>
          </a:p>
        </p:txBody>
      </p:sp>
      <p:sp>
        <p:nvSpPr>
          <p:cNvPr id="2" name="Holder 2"/>
          <p:cNvSpPr>
            <a:spLocks noGrp="1"/>
          </p:cNvSpPr>
          <p:nvPr>
            <p:ph type="ctrTitle"/>
          </p:nvPr>
        </p:nvSpPr>
        <p:spPr>
          <a:xfrm>
            <a:off x="9617075" y="333678"/>
            <a:ext cx="2287270" cy="330200"/>
          </a:xfrm>
          <a:prstGeom prst="rect">
            <a:avLst/>
          </a:prstGeom>
        </p:spPr>
        <p:txBody>
          <a:bodyPr wrap="square" lIns="0" tIns="0" rIns="0" bIns="0">
            <a:spAutoFit/>
          </a:bodyPr>
          <a:lstStyle>
            <a:lvl1pPr>
              <a:defRPr sz="4000" b="0" i="0">
                <a:solidFill>
                  <a:schemeClr val="tx1"/>
                </a:solidFill>
                <a:latin typeface="Century Gothic"/>
                <a:cs typeface="Century Gothic"/>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50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p:txBody>
          <a:bodyPr lIns="0" tIns="0" rIns="0" bIns="0"/>
          <a:lstStyle>
            <a:lvl1pPr>
              <a:defRPr sz="50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5F6F7"/>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entury Gothic"/>
                <a:cs typeface="Century Gothic"/>
              </a:defRPr>
            </a:lvl1pPr>
          </a:lstStyle>
          <a:p>
            <a:endParaRPr/>
          </a:p>
        </p:txBody>
      </p:sp>
      <p:sp>
        <p:nvSpPr>
          <p:cNvPr id="3" name="Holder 3"/>
          <p:cNvSpPr>
            <a:spLocks noGrp="1"/>
          </p:cNvSpPr>
          <p:nvPr>
            <p:ph type="body" idx="1"/>
          </p:nvPr>
        </p:nvSpPr>
        <p:spPr/>
        <p:txBody>
          <a:bodyPr lIns="0" tIns="0" rIns="0" bIns="0"/>
          <a:lstStyle>
            <a:lvl1pPr>
              <a:defRPr sz="50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683639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5F6F7"/>
          </a:solidFill>
        </p:spPr>
        <p:txBody>
          <a:bodyPr wrap="square" lIns="0" tIns="0" rIns="0" bIns="0" rtlCol="0"/>
          <a:lstStyle/>
          <a:p>
            <a:endParaRPr/>
          </a:p>
        </p:txBody>
      </p:sp>
      <p:sp>
        <p:nvSpPr>
          <p:cNvPr id="17" name="bg object 17"/>
          <p:cNvSpPr/>
          <p:nvPr/>
        </p:nvSpPr>
        <p:spPr>
          <a:xfrm>
            <a:off x="0" y="9353550"/>
            <a:ext cx="8684895" cy="269240"/>
          </a:xfrm>
          <a:custGeom>
            <a:avLst/>
            <a:gdLst/>
            <a:ahLst/>
            <a:cxnLst/>
            <a:rect l="l" t="t" r="r" b="b"/>
            <a:pathLst>
              <a:path w="8684895" h="269240">
                <a:moveTo>
                  <a:pt x="8684793" y="0"/>
                </a:moveTo>
                <a:lnTo>
                  <a:pt x="0" y="0"/>
                </a:lnTo>
                <a:lnTo>
                  <a:pt x="0" y="269163"/>
                </a:lnTo>
                <a:lnTo>
                  <a:pt x="8684793" y="269163"/>
                </a:lnTo>
                <a:lnTo>
                  <a:pt x="8684793" y="0"/>
                </a:lnTo>
                <a:close/>
              </a:path>
            </a:pathLst>
          </a:custGeom>
          <a:solidFill>
            <a:srgbClr val="000000"/>
          </a:solidFill>
        </p:spPr>
        <p:txBody>
          <a:bodyPr wrap="square" lIns="0" tIns="0" rIns="0" bIns="0" rtlCol="0"/>
          <a:lstStyle/>
          <a:p>
            <a:endParaRPr/>
          </a:p>
        </p:txBody>
      </p:sp>
      <p:sp>
        <p:nvSpPr>
          <p:cNvPr id="18" name="bg object 18"/>
          <p:cNvSpPr/>
          <p:nvPr/>
        </p:nvSpPr>
        <p:spPr>
          <a:xfrm>
            <a:off x="14597495" y="9344025"/>
            <a:ext cx="2291080" cy="278765"/>
          </a:xfrm>
          <a:custGeom>
            <a:avLst/>
            <a:gdLst/>
            <a:ahLst/>
            <a:cxnLst/>
            <a:rect l="l" t="t" r="r" b="b"/>
            <a:pathLst>
              <a:path w="2291080" h="278765">
                <a:moveTo>
                  <a:pt x="2290762" y="0"/>
                </a:moveTo>
                <a:lnTo>
                  <a:pt x="0" y="0"/>
                </a:lnTo>
                <a:lnTo>
                  <a:pt x="0" y="278688"/>
                </a:lnTo>
                <a:lnTo>
                  <a:pt x="2290762" y="278688"/>
                </a:lnTo>
                <a:lnTo>
                  <a:pt x="2290762" y="0"/>
                </a:lnTo>
                <a:close/>
              </a:path>
            </a:pathLst>
          </a:custGeom>
          <a:solidFill>
            <a:srgbClr val="7491E8"/>
          </a:solidFill>
        </p:spPr>
        <p:txBody>
          <a:bodyPr wrap="square" lIns="0" tIns="0" rIns="0" bIns="0" rtlCol="0"/>
          <a:lstStyle/>
          <a:p>
            <a:endParaRPr/>
          </a:p>
        </p:txBody>
      </p:sp>
      <p:sp>
        <p:nvSpPr>
          <p:cNvPr id="19" name="bg object 19"/>
          <p:cNvSpPr/>
          <p:nvPr/>
        </p:nvSpPr>
        <p:spPr>
          <a:xfrm>
            <a:off x="9572243" y="9353550"/>
            <a:ext cx="4581525" cy="269240"/>
          </a:xfrm>
          <a:custGeom>
            <a:avLst/>
            <a:gdLst/>
            <a:ahLst/>
            <a:cxnLst/>
            <a:rect l="l" t="t" r="r" b="b"/>
            <a:pathLst>
              <a:path w="4581525" h="269240">
                <a:moveTo>
                  <a:pt x="4581525" y="0"/>
                </a:moveTo>
                <a:lnTo>
                  <a:pt x="0" y="0"/>
                </a:lnTo>
                <a:lnTo>
                  <a:pt x="0" y="269163"/>
                </a:lnTo>
                <a:lnTo>
                  <a:pt x="4581525" y="269163"/>
                </a:lnTo>
                <a:lnTo>
                  <a:pt x="4581525" y="0"/>
                </a:lnTo>
                <a:close/>
              </a:path>
            </a:pathLst>
          </a:custGeom>
          <a:solidFill>
            <a:srgbClr val="2B57D9"/>
          </a:solidFill>
        </p:spPr>
        <p:txBody>
          <a:bodyPr wrap="square" lIns="0" tIns="0" rIns="0" bIns="0" rtlCol="0"/>
          <a:lstStyle/>
          <a:p>
            <a:endParaRPr/>
          </a:p>
        </p:txBody>
      </p:sp>
      <p:sp>
        <p:nvSpPr>
          <p:cNvPr id="20" name="bg object 20"/>
          <p:cNvSpPr/>
          <p:nvPr/>
        </p:nvSpPr>
        <p:spPr>
          <a:xfrm>
            <a:off x="17110099" y="9344025"/>
            <a:ext cx="1177925" cy="278765"/>
          </a:xfrm>
          <a:custGeom>
            <a:avLst/>
            <a:gdLst/>
            <a:ahLst/>
            <a:cxnLst/>
            <a:rect l="l" t="t" r="r" b="b"/>
            <a:pathLst>
              <a:path w="1177925" h="278765">
                <a:moveTo>
                  <a:pt x="1177899" y="0"/>
                </a:moveTo>
                <a:lnTo>
                  <a:pt x="0" y="0"/>
                </a:lnTo>
                <a:lnTo>
                  <a:pt x="0" y="278688"/>
                </a:lnTo>
                <a:lnTo>
                  <a:pt x="1177899" y="278688"/>
                </a:lnTo>
                <a:lnTo>
                  <a:pt x="1177899" y="0"/>
                </a:lnTo>
                <a:close/>
              </a:path>
            </a:pathLst>
          </a:custGeom>
          <a:solidFill>
            <a:srgbClr val="A5CAF3"/>
          </a:solidFill>
        </p:spPr>
        <p:txBody>
          <a:bodyPr wrap="square" lIns="0" tIns="0" rIns="0" bIns="0" rtlCol="0"/>
          <a:lstStyle/>
          <a:p>
            <a:endParaRPr/>
          </a:p>
        </p:txBody>
      </p:sp>
      <p:sp>
        <p:nvSpPr>
          <p:cNvPr id="2" name="Holder 2"/>
          <p:cNvSpPr>
            <a:spLocks noGrp="1"/>
          </p:cNvSpPr>
          <p:nvPr>
            <p:ph type="title"/>
          </p:nvPr>
        </p:nvSpPr>
        <p:spPr>
          <a:xfrm>
            <a:off x="905513" y="295405"/>
            <a:ext cx="805814" cy="636905"/>
          </a:xfrm>
          <a:prstGeom prst="rect">
            <a:avLst/>
          </a:prstGeom>
        </p:spPr>
        <p:txBody>
          <a:bodyPr wrap="square" lIns="0" tIns="0" rIns="0" bIns="0">
            <a:spAutoFit/>
          </a:bodyPr>
          <a:lstStyle>
            <a:lvl1pPr>
              <a:defRPr sz="4000" b="0" i="0">
                <a:solidFill>
                  <a:schemeClr val="tx1"/>
                </a:solidFill>
                <a:latin typeface="Century Gothic"/>
                <a:cs typeface="Century Gothic"/>
              </a:defRPr>
            </a:lvl1pPr>
          </a:lstStyle>
          <a:p>
            <a:endParaRPr/>
          </a:p>
        </p:txBody>
      </p:sp>
      <p:sp>
        <p:nvSpPr>
          <p:cNvPr id="3" name="Holder 3"/>
          <p:cNvSpPr>
            <a:spLocks noGrp="1"/>
          </p:cNvSpPr>
          <p:nvPr>
            <p:ph type="body" idx="1"/>
          </p:nvPr>
        </p:nvSpPr>
        <p:spPr>
          <a:xfrm>
            <a:off x="905508" y="1761127"/>
            <a:ext cx="7750175" cy="6664325"/>
          </a:xfrm>
          <a:prstGeom prst="rect">
            <a:avLst/>
          </a:prstGeom>
        </p:spPr>
        <p:txBody>
          <a:bodyPr wrap="square" lIns="0" tIns="0" rIns="0" bIns="0">
            <a:spAutoFit/>
          </a:bodyPr>
          <a:lstStyle>
            <a:lvl1pPr>
              <a:defRPr sz="50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2/4/2026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72242" y="4665290"/>
            <a:ext cx="8487157" cy="2647520"/>
          </a:xfrm>
          <a:prstGeom prst="rect">
            <a:avLst/>
          </a:prstGeom>
        </p:spPr>
        <p:txBody>
          <a:bodyPr vert="horz" wrap="square" lIns="0" tIns="132715" rIns="0" bIns="0" rtlCol="0">
            <a:spAutoFit/>
          </a:bodyPr>
          <a:lstStyle/>
          <a:p>
            <a:pPr marL="12700" marR="5080">
              <a:lnSpc>
                <a:spcPts val="9340"/>
              </a:lnSpc>
              <a:spcBef>
                <a:spcPts val="1045"/>
              </a:spcBef>
            </a:pPr>
            <a:r>
              <a:rPr lang="en-US" sz="8500" b="1" spc="-335" dirty="0">
                <a:latin typeface="Lucida Sans"/>
                <a:cs typeface="Lucida Sans"/>
              </a:rPr>
              <a:t>Lecture-1</a:t>
            </a:r>
          </a:p>
          <a:p>
            <a:pPr marL="12700" marR="5080">
              <a:lnSpc>
                <a:spcPts val="9340"/>
              </a:lnSpc>
              <a:spcBef>
                <a:spcPts val="1045"/>
              </a:spcBef>
            </a:pPr>
            <a:r>
              <a:rPr lang="en-US" sz="8500" b="1" spc="-335" dirty="0">
                <a:latin typeface="Lucida Sans"/>
                <a:cs typeface="Lucida Sans"/>
              </a:rPr>
              <a:t>An Introduction </a:t>
            </a:r>
            <a:endParaRPr sz="8500" dirty="0">
              <a:latin typeface="Lucida Sans"/>
              <a:cs typeface="Lucida Sans"/>
            </a:endParaRPr>
          </a:p>
        </p:txBody>
      </p:sp>
      <p:sp>
        <p:nvSpPr>
          <p:cNvPr id="3" name="object 3"/>
          <p:cNvSpPr/>
          <p:nvPr/>
        </p:nvSpPr>
        <p:spPr>
          <a:xfrm>
            <a:off x="0" y="9353550"/>
            <a:ext cx="8684895" cy="269240"/>
          </a:xfrm>
          <a:custGeom>
            <a:avLst/>
            <a:gdLst/>
            <a:ahLst/>
            <a:cxnLst/>
            <a:rect l="l" t="t" r="r" b="b"/>
            <a:pathLst>
              <a:path w="8684895" h="269240">
                <a:moveTo>
                  <a:pt x="8684793" y="0"/>
                </a:moveTo>
                <a:lnTo>
                  <a:pt x="0" y="0"/>
                </a:lnTo>
                <a:lnTo>
                  <a:pt x="0" y="269163"/>
                </a:lnTo>
                <a:lnTo>
                  <a:pt x="8684793" y="269163"/>
                </a:lnTo>
                <a:lnTo>
                  <a:pt x="8684793" y="0"/>
                </a:lnTo>
                <a:close/>
              </a:path>
            </a:pathLst>
          </a:custGeom>
          <a:solidFill>
            <a:srgbClr val="000000"/>
          </a:solidFill>
        </p:spPr>
        <p:txBody>
          <a:bodyPr wrap="square" lIns="0" tIns="0" rIns="0" bIns="0" rtlCol="0"/>
          <a:lstStyle/>
          <a:p>
            <a:endParaRPr/>
          </a:p>
        </p:txBody>
      </p:sp>
      <p:sp>
        <p:nvSpPr>
          <p:cNvPr id="4" name="object 4"/>
          <p:cNvSpPr/>
          <p:nvPr/>
        </p:nvSpPr>
        <p:spPr>
          <a:xfrm>
            <a:off x="14597495" y="9344025"/>
            <a:ext cx="2291080" cy="278765"/>
          </a:xfrm>
          <a:custGeom>
            <a:avLst/>
            <a:gdLst/>
            <a:ahLst/>
            <a:cxnLst/>
            <a:rect l="l" t="t" r="r" b="b"/>
            <a:pathLst>
              <a:path w="2291080" h="278765">
                <a:moveTo>
                  <a:pt x="2290762" y="0"/>
                </a:moveTo>
                <a:lnTo>
                  <a:pt x="0" y="0"/>
                </a:lnTo>
                <a:lnTo>
                  <a:pt x="0" y="278688"/>
                </a:lnTo>
                <a:lnTo>
                  <a:pt x="2290762" y="278688"/>
                </a:lnTo>
                <a:lnTo>
                  <a:pt x="2290762" y="0"/>
                </a:lnTo>
                <a:close/>
              </a:path>
            </a:pathLst>
          </a:custGeom>
          <a:solidFill>
            <a:srgbClr val="7491E8"/>
          </a:solidFill>
        </p:spPr>
        <p:txBody>
          <a:bodyPr wrap="square" lIns="0" tIns="0" rIns="0" bIns="0" rtlCol="0"/>
          <a:lstStyle/>
          <a:p>
            <a:endParaRPr/>
          </a:p>
        </p:txBody>
      </p:sp>
      <p:sp>
        <p:nvSpPr>
          <p:cNvPr id="5" name="object 5"/>
          <p:cNvSpPr/>
          <p:nvPr/>
        </p:nvSpPr>
        <p:spPr>
          <a:xfrm>
            <a:off x="9572243" y="9353550"/>
            <a:ext cx="4581525" cy="269240"/>
          </a:xfrm>
          <a:custGeom>
            <a:avLst/>
            <a:gdLst/>
            <a:ahLst/>
            <a:cxnLst/>
            <a:rect l="l" t="t" r="r" b="b"/>
            <a:pathLst>
              <a:path w="4581525" h="269240">
                <a:moveTo>
                  <a:pt x="4581525" y="0"/>
                </a:moveTo>
                <a:lnTo>
                  <a:pt x="0" y="0"/>
                </a:lnTo>
                <a:lnTo>
                  <a:pt x="0" y="269163"/>
                </a:lnTo>
                <a:lnTo>
                  <a:pt x="4581525" y="269163"/>
                </a:lnTo>
                <a:lnTo>
                  <a:pt x="4581525" y="0"/>
                </a:lnTo>
                <a:close/>
              </a:path>
            </a:pathLst>
          </a:custGeom>
          <a:solidFill>
            <a:srgbClr val="2B57D9"/>
          </a:solidFill>
        </p:spPr>
        <p:txBody>
          <a:bodyPr wrap="square" lIns="0" tIns="0" rIns="0" bIns="0" rtlCol="0"/>
          <a:lstStyle/>
          <a:p>
            <a:endParaRPr/>
          </a:p>
        </p:txBody>
      </p:sp>
      <p:sp>
        <p:nvSpPr>
          <p:cNvPr id="6" name="object 6"/>
          <p:cNvSpPr/>
          <p:nvPr/>
        </p:nvSpPr>
        <p:spPr>
          <a:xfrm>
            <a:off x="17110099" y="9344025"/>
            <a:ext cx="1177925" cy="278765"/>
          </a:xfrm>
          <a:custGeom>
            <a:avLst/>
            <a:gdLst/>
            <a:ahLst/>
            <a:cxnLst/>
            <a:rect l="l" t="t" r="r" b="b"/>
            <a:pathLst>
              <a:path w="1177925" h="278765">
                <a:moveTo>
                  <a:pt x="1177899" y="0"/>
                </a:moveTo>
                <a:lnTo>
                  <a:pt x="0" y="0"/>
                </a:lnTo>
                <a:lnTo>
                  <a:pt x="0" y="278688"/>
                </a:lnTo>
                <a:lnTo>
                  <a:pt x="1177899" y="278688"/>
                </a:lnTo>
                <a:lnTo>
                  <a:pt x="1177899" y="0"/>
                </a:lnTo>
                <a:close/>
              </a:path>
            </a:pathLst>
          </a:custGeom>
          <a:solidFill>
            <a:srgbClr val="A5CAF3"/>
          </a:solidFill>
        </p:spPr>
        <p:txBody>
          <a:bodyPr wrap="square" lIns="0" tIns="0" rIns="0" bIns="0" rtlCol="0"/>
          <a:lstStyle/>
          <a:p>
            <a:endParaRPr/>
          </a:p>
        </p:txBody>
      </p:sp>
      <p:sp>
        <p:nvSpPr>
          <p:cNvPr id="7" name="object 7"/>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8" name="object 8" descr="$PPTXTitle"/>
          <p:cNvSpPr txBox="1">
            <a:spLocks noGrp="1"/>
          </p:cNvSpPr>
          <p:nvPr>
            <p:ph type="ctrTitle"/>
          </p:nvPr>
        </p:nvSpPr>
        <p:spPr>
          <a:xfrm>
            <a:off x="9617074" y="333678"/>
            <a:ext cx="3641726"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endParaRPr sz="2000" dirty="0">
              <a:latin typeface="Century"/>
              <a:cs typeface="Century"/>
            </a:endParaRPr>
          </a:p>
        </p:txBody>
      </p:sp>
      <p:sp>
        <p:nvSpPr>
          <p:cNvPr id="9" name="object 9"/>
          <p:cNvSpPr txBox="1"/>
          <p:nvPr/>
        </p:nvSpPr>
        <p:spPr>
          <a:xfrm>
            <a:off x="16100480" y="333863"/>
            <a:ext cx="1577920"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sz="2000" dirty="0">
              <a:latin typeface="Century"/>
              <a:cs typeface="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B286A-58DB-5533-9E56-656687D3462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3E93EBD-C8DD-5623-647A-B4B06AC6A4A6}"/>
              </a:ext>
            </a:extLst>
          </p:cNvPr>
          <p:cNvSpPr txBox="1">
            <a:spLocks noGrp="1"/>
          </p:cNvSpPr>
          <p:nvPr>
            <p:ph type="body" idx="1"/>
          </p:nvPr>
        </p:nvSpPr>
        <p:spPr>
          <a:xfrm>
            <a:off x="986154" y="1446847"/>
            <a:ext cx="16315692" cy="7393306"/>
          </a:xfrm>
          <a:prstGeom prst="rect">
            <a:avLst/>
          </a:prstGeom>
        </p:spPr>
        <p:txBody>
          <a:bodyPr vert="horz" wrap="square" lIns="0" tIns="11430" rIns="0" bIns="0" rtlCol="0">
            <a:spAutoFit/>
          </a:bodyPr>
          <a:lstStyle/>
          <a:p>
            <a:pPr marL="12065" marR="266065" algn="just">
              <a:lnSpc>
                <a:spcPct val="150000"/>
              </a:lnSpc>
              <a:spcBef>
                <a:spcPts val="1900"/>
              </a:spcBef>
              <a:tabLst>
                <a:tab pos="227329" algn="l"/>
              </a:tabLst>
            </a:pPr>
            <a:r>
              <a:rPr lang="en-US" sz="4000" b="1" i="1" u="sng" spc="505" dirty="0">
                <a:highlight>
                  <a:srgbClr val="FFFF00"/>
                </a:highlight>
              </a:rPr>
              <a:t>Instructions</a:t>
            </a:r>
            <a:endParaRPr lang="en-US" sz="4000" dirty="0">
              <a:latin typeface="Century"/>
              <a:cs typeface="Century"/>
            </a:endParaRPr>
          </a:p>
          <a:p>
            <a:pPr marL="224790" marR="266065" indent="-212725" algn="just">
              <a:lnSpc>
                <a:spcPct val="150000"/>
              </a:lnSpc>
              <a:spcBef>
                <a:spcPts val="1900"/>
              </a:spcBef>
              <a:buChar char="•"/>
              <a:tabLst>
                <a:tab pos="227329" algn="l"/>
              </a:tabLst>
            </a:pPr>
            <a:r>
              <a:rPr lang="en-US" sz="4000" dirty="0">
                <a:latin typeface="Century"/>
                <a:cs typeface="Century"/>
              </a:rPr>
              <a:t>Please join Google Classroom to get updates.</a:t>
            </a:r>
          </a:p>
          <a:p>
            <a:pPr marL="224790" marR="266065" indent="-212725" algn="just">
              <a:lnSpc>
                <a:spcPct val="150000"/>
              </a:lnSpc>
              <a:spcBef>
                <a:spcPts val="1900"/>
              </a:spcBef>
              <a:buChar char="•"/>
              <a:tabLst>
                <a:tab pos="227329" algn="l"/>
              </a:tabLst>
            </a:pPr>
            <a:r>
              <a:rPr lang="en-US" sz="4000" dirty="0">
                <a:latin typeface="Century"/>
                <a:cs typeface="Century"/>
              </a:rPr>
              <a:t>Attendance will be marked on Google Forms. You should have internet to mark the attendance. </a:t>
            </a:r>
          </a:p>
          <a:p>
            <a:pPr marL="224790" marR="266065" indent="-212725" algn="just">
              <a:lnSpc>
                <a:spcPct val="150000"/>
              </a:lnSpc>
              <a:spcBef>
                <a:spcPts val="1900"/>
              </a:spcBef>
              <a:buChar char="•"/>
              <a:tabLst>
                <a:tab pos="227329" algn="l"/>
              </a:tabLst>
            </a:pPr>
            <a:r>
              <a:rPr lang="en-US" sz="4000" dirty="0">
                <a:latin typeface="Century"/>
                <a:cs typeface="Century"/>
              </a:rPr>
              <a:t>In case of any query, you can contact me on my email. </a:t>
            </a:r>
          </a:p>
          <a:p>
            <a:pPr marL="12065" marR="266065" algn="ctr">
              <a:lnSpc>
                <a:spcPct val="150000"/>
              </a:lnSpc>
              <a:spcBef>
                <a:spcPts val="1900"/>
              </a:spcBef>
              <a:tabLst>
                <a:tab pos="227329" algn="l"/>
              </a:tabLst>
            </a:pPr>
            <a:r>
              <a:rPr lang="en-US" sz="4000" b="1" u="sng" dirty="0">
                <a:solidFill>
                  <a:srgbClr val="0070C0"/>
                </a:solidFill>
                <a:latin typeface="Century"/>
                <a:cs typeface="Century"/>
              </a:rPr>
              <a:t>ishabansatti@gmail.com</a:t>
            </a:r>
          </a:p>
          <a:p>
            <a:pPr marL="224790" marR="5080" indent="-212725" algn="just">
              <a:lnSpc>
                <a:spcPct val="150000"/>
              </a:lnSpc>
              <a:spcBef>
                <a:spcPts val="500"/>
              </a:spcBef>
              <a:buChar char="•"/>
              <a:tabLst>
                <a:tab pos="227329" algn="l"/>
              </a:tabLst>
            </a:pPr>
            <a:r>
              <a:rPr lang="en-US" sz="4000" dirty="0">
                <a:latin typeface="Century"/>
              </a:rPr>
              <a:t>Please be punctual in class.</a:t>
            </a:r>
          </a:p>
        </p:txBody>
      </p:sp>
      <p:sp>
        <p:nvSpPr>
          <p:cNvPr id="4" name="object 4">
            <a:extLst>
              <a:ext uri="{FF2B5EF4-FFF2-40B4-BE49-F238E27FC236}">
                <a16:creationId xmlns:a16="http://schemas.microsoft.com/office/drawing/2014/main" id="{3495E98E-6D88-46A0-B4AD-AC03A4BD05B4}"/>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68B409D8-164E-B57B-E04E-A175196A6461}"/>
              </a:ext>
            </a:extLst>
          </p:cNvPr>
          <p:cNvSpPr txBox="1"/>
          <p:nvPr/>
        </p:nvSpPr>
        <p:spPr>
          <a:xfrm>
            <a:off x="9617075" y="333678"/>
            <a:ext cx="34131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endParaRPr sz="2000" dirty="0">
              <a:latin typeface="Century"/>
              <a:cs typeface="Century"/>
            </a:endParaRPr>
          </a:p>
        </p:txBody>
      </p:sp>
      <p:sp>
        <p:nvSpPr>
          <p:cNvPr id="6" name="object 6">
            <a:extLst>
              <a:ext uri="{FF2B5EF4-FFF2-40B4-BE49-F238E27FC236}">
                <a16:creationId xmlns:a16="http://schemas.microsoft.com/office/drawing/2014/main" id="{64CB8E33-8C0E-6412-4968-5356172BB96C}"/>
              </a:ext>
            </a:extLst>
          </p:cNvPr>
          <p:cNvSpPr txBox="1"/>
          <p:nvPr/>
        </p:nvSpPr>
        <p:spPr>
          <a:xfrm>
            <a:off x="16100480" y="333863"/>
            <a:ext cx="1577920"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Tree>
    <p:extLst>
      <p:ext uri="{BB962C8B-B14F-4D97-AF65-F5344CB8AC3E}">
        <p14:creationId xmlns:p14="http://schemas.microsoft.com/office/powerpoint/2010/main" val="4136970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55A28-C6DD-8909-B46D-9369859F23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5CA86C4-4B98-0A3B-6975-C01C7A532BAD}"/>
              </a:ext>
            </a:extLst>
          </p:cNvPr>
          <p:cNvSpPr txBox="1">
            <a:spLocks noGrp="1"/>
          </p:cNvSpPr>
          <p:nvPr>
            <p:ph type="body" idx="1"/>
          </p:nvPr>
        </p:nvSpPr>
        <p:spPr>
          <a:xfrm>
            <a:off x="1371600" y="1686943"/>
            <a:ext cx="6638292" cy="4722575"/>
          </a:xfrm>
          <a:prstGeom prst="rect">
            <a:avLst/>
          </a:prstGeom>
        </p:spPr>
        <p:txBody>
          <a:bodyPr vert="horz" wrap="square" lIns="0" tIns="11430" rIns="0" bIns="0" rtlCol="0">
            <a:spAutoFit/>
          </a:bodyPr>
          <a:lstStyle/>
          <a:p>
            <a:pPr marL="12700">
              <a:lnSpc>
                <a:spcPct val="100000"/>
              </a:lnSpc>
              <a:spcBef>
                <a:spcPts val="90"/>
              </a:spcBef>
            </a:pPr>
            <a:r>
              <a:rPr lang="en-US" sz="4400" b="1" u="sng" spc="505" dirty="0">
                <a:latin typeface="+mn-lt"/>
              </a:rPr>
              <a:t>Marks Breakup</a:t>
            </a:r>
            <a:endParaRPr sz="4400" b="1" u="sng" spc="-10" dirty="0">
              <a:latin typeface="+mn-lt"/>
            </a:endParaRPr>
          </a:p>
          <a:p>
            <a:pPr marL="224790" marR="266065" indent="-212725">
              <a:lnSpc>
                <a:spcPct val="150000"/>
              </a:lnSpc>
              <a:spcBef>
                <a:spcPts val="1900"/>
              </a:spcBef>
              <a:buChar char="•"/>
              <a:tabLst>
                <a:tab pos="227329" algn="l"/>
              </a:tabLst>
            </a:pPr>
            <a:r>
              <a:rPr lang="en-US" sz="4000" dirty="0">
                <a:latin typeface="+mn-lt"/>
                <a:cs typeface="Century"/>
              </a:rPr>
              <a:t>Quizzes 		(25 = 5 X 5)</a:t>
            </a:r>
          </a:p>
          <a:p>
            <a:pPr marL="224790" marR="5080" indent="-212725">
              <a:lnSpc>
                <a:spcPct val="150000"/>
              </a:lnSpc>
              <a:spcBef>
                <a:spcPts val="500"/>
              </a:spcBef>
              <a:buChar char="•"/>
              <a:tabLst>
                <a:tab pos="227329" algn="l"/>
              </a:tabLst>
            </a:pPr>
            <a:r>
              <a:rPr lang="en-US" sz="4000" dirty="0">
                <a:latin typeface="+mn-lt"/>
                <a:cs typeface="Century"/>
              </a:rPr>
              <a:t>Assignments 	(5  = 1 X 5)</a:t>
            </a:r>
          </a:p>
          <a:p>
            <a:pPr marL="224790" marR="5080" indent="-212725">
              <a:lnSpc>
                <a:spcPct val="150000"/>
              </a:lnSpc>
              <a:spcBef>
                <a:spcPts val="500"/>
              </a:spcBef>
              <a:buChar char="•"/>
              <a:tabLst>
                <a:tab pos="227329" algn="l"/>
              </a:tabLst>
            </a:pPr>
            <a:r>
              <a:rPr lang="en-US" sz="4000" dirty="0">
                <a:latin typeface="+mn-lt"/>
                <a:cs typeface="Century"/>
              </a:rPr>
              <a:t>Mid Exam 		(30)</a:t>
            </a:r>
          </a:p>
          <a:p>
            <a:pPr marL="224790" marR="5080" indent="-212725">
              <a:lnSpc>
                <a:spcPct val="150000"/>
              </a:lnSpc>
              <a:spcBef>
                <a:spcPts val="500"/>
              </a:spcBef>
              <a:buChar char="•"/>
              <a:tabLst>
                <a:tab pos="227329" algn="l"/>
              </a:tabLst>
            </a:pPr>
            <a:r>
              <a:rPr lang="en-US" sz="4000" dirty="0">
                <a:latin typeface="+mn-lt"/>
                <a:cs typeface="Century"/>
              </a:rPr>
              <a:t>Final Exam 		(40)</a:t>
            </a:r>
          </a:p>
        </p:txBody>
      </p:sp>
      <p:sp>
        <p:nvSpPr>
          <p:cNvPr id="4" name="object 4">
            <a:extLst>
              <a:ext uri="{FF2B5EF4-FFF2-40B4-BE49-F238E27FC236}">
                <a16:creationId xmlns:a16="http://schemas.microsoft.com/office/drawing/2014/main" id="{B1A22673-B915-D4E0-DC40-4799366467A5}"/>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ECC161C6-151A-D376-ABF8-2A25A0DFC401}"/>
              </a:ext>
            </a:extLst>
          </p:cNvPr>
          <p:cNvSpPr txBox="1"/>
          <p:nvPr/>
        </p:nvSpPr>
        <p:spPr>
          <a:xfrm>
            <a:off x="9617075" y="333678"/>
            <a:ext cx="34131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F2296C35-D2C8-BE3F-C238-1B1D10FBC86D}"/>
              </a:ext>
            </a:extLst>
          </p:cNvPr>
          <p:cNvSpPr txBox="1"/>
          <p:nvPr/>
        </p:nvSpPr>
        <p:spPr>
          <a:xfrm>
            <a:off x="16100480" y="333863"/>
            <a:ext cx="1577920"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2">
            <a:extLst>
              <a:ext uri="{FF2B5EF4-FFF2-40B4-BE49-F238E27FC236}">
                <a16:creationId xmlns:a16="http://schemas.microsoft.com/office/drawing/2014/main" id="{DA62B920-9B23-19D3-C8BC-24E4B8561848}"/>
              </a:ext>
            </a:extLst>
          </p:cNvPr>
          <p:cNvSpPr txBox="1">
            <a:spLocks/>
          </p:cNvSpPr>
          <p:nvPr/>
        </p:nvSpPr>
        <p:spPr>
          <a:xfrm>
            <a:off x="9617075" y="1686943"/>
            <a:ext cx="8342312" cy="5643533"/>
          </a:xfrm>
          <a:prstGeom prst="rect">
            <a:avLst/>
          </a:prstGeom>
        </p:spPr>
        <p:txBody>
          <a:bodyPr vert="horz" wrap="square" lIns="0" tIns="11430" rIns="0" bIns="0" rtlCol="0">
            <a:spAutoFit/>
          </a:bodyPr>
          <a:lstStyle>
            <a:lvl1pPr marL="0">
              <a:defRPr sz="5000" b="0" i="0">
                <a:solidFill>
                  <a:schemeClr val="tx1"/>
                </a:solidFill>
                <a:latin typeface="Century Gothic"/>
                <a:ea typeface="+mn-ea"/>
                <a:cs typeface="Century Gothic"/>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065" marR="5080">
              <a:lnSpc>
                <a:spcPct val="107800"/>
              </a:lnSpc>
              <a:spcBef>
                <a:spcPts val="500"/>
              </a:spcBef>
              <a:tabLst>
                <a:tab pos="227329" algn="l"/>
              </a:tabLst>
            </a:pPr>
            <a:r>
              <a:rPr lang="en-US" sz="4400" b="1" u="sng" spc="505" dirty="0">
                <a:latin typeface="+mn-lt"/>
              </a:rPr>
              <a:t>Instructions </a:t>
            </a:r>
          </a:p>
          <a:p>
            <a:pPr marL="224790" marR="266065" indent="-212725" algn="just">
              <a:lnSpc>
                <a:spcPct val="150000"/>
              </a:lnSpc>
              <a:spcBef>
                <a:spcPts val="600"/>
              </a:spcBef>
              <a:spcAft>
                <a:spcPts val="600"/>
              </a:spcAft>
              <a:buFontTx/>
              <a:buChar char="•"/>
              <a:tabLst>
                <a:tab pos="227329" algn="l"/>
              </a:tabLst>
            </a:pPr>
            <a:r>
              <a:rPr lang="en-US" sz="4000" dirty="0">
                <a:latin typeface="+mn-lt"/>
                <a:cs typeface="Century"/>
              </a:rPr>
              <a:t>MCQs based quizzes on google forms. </a:t>
            </a:r>
          </a:p>
          <a:p>
            <a:pPr marL="224790" marR="266065" indent="-212725" algn="just">
              <a:lnSpc>
                <a:spcPct val="150000"/>
              </a:lnSpc>
              <a:spcBef>
                <a:spcPts val="600"/>
              </a:spcBef>
              <a:spcAft>
                <a:spcPts val="600"/>
              </a:spcAft>
              <a:buFontTx/>
              <a:buChar char="•"/>
              <a:tabLst>
                <a:tab pos="227329" algn="l"/>
              </a:tabLst>
            </a:pPr>
            <a:r>
              <a:rPr lang="en-US" sz="4000" dirty="0">
                <a:latin typeface="+mn-lt"/>
                <a:cs typeface="Century"/>
              </a:rPr>
              <a:t>You should have a GitHub account  to upload your assignment codes.</a:t>
            </a:r>
          </a:p>
          <a:p>
            <a:pPr marL="224790" marR="266065" indent="-212725" algn="just">
              <a:lnSpc>
                <a:spcPct val="150000"/>
              </a:lnSpc>
              <a:spcBef>
                <a:spcPts val="600"/>
              </a:spcBef>
              <a:spcAft>
                <a:spcPts val="600"/>
              </a:spcAft>
              <a:buFontTx/>
              <a:buChar char="•"/>
              <a:tabLst>
                <a:tab pos="227329" algn="l"/>
              </a:tabLst>
            </a:pPr>
            <a:r>
              <a:rPr lang="en-US" sz="4000" dirty="0">
                <a:latin typeface="+mn-lt"/>
                <a:cs typeface="Century"/>
              </a:rPr>
              <a:t>All assignments will be followed by a relevant viva. </a:t>
            </a:r>
            <a:endParaRPr lang="en-US" sz="2000" dirty="0">
              <a:latin typeface="Century"/>
              <a:cs typeface="Century"/>
            </a:endParaRPr>
          </a:p>
        </p:txBody>
      </p:sp>
    </p:spTree>
    <p:extLst>
      <p:ext uri="{BB962C8B-B14F-4D97-AF65-F5344CB8AC3E}">
        <p14:creationId xmlns:p14="http://schemas.microsoft.com/office/powerpoint/2010/main" val="1051858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5F6F7"/>
          </a:solidFill>
        </p:spPr>
        <p:txBody>
          <a:bodyPr wrap="square" lIns="0" tIns="0" rIns="0" bIns="0" rtlCol="0"/>
          <a:lstStyle/>
          <a:p>
            <a:endParaRPr dirty="0"/>
          </a:p>
        </p:txBody>
      </p:sp>
      <p:sp>
        <p:nvSpPr>
          <p:cNvPr id="3" name="object 3"/>
          <p:cNvSpPr txBox="1"/>
          <p:nvPr/>
        </p:nvSpPr>
        <p:spPr>
          <a:xfrm>
            <a:off x="905513" y="7018409"/>
            <a:ext cx="4385945" cy="1319530"/>
          </a:xfrm>
          <a:prstGeom prst="rect">
            <a:avLst/>
          </a:prstGeom>
        </p:spPr>
        <p:txBody>
          <a:bodyPr vert="horz" wrap="square" lIns="0" tIns="11430" rIns="0" bIns="0" rtlCol="0">
            <a:spAutoFit/>
          </a:bodyPr>
          <a:lstStyle/>
          <a:p>
            <a:pPr marL="12700">
              <a:lnSpc>
                <a:spcPct val="100000"/>
              </a:lnSpc>
              <a:spcBef>
                <a:spcPts val="90"/>
              </a:spcBef>
            </a:pPr>
            <a:r>
              <a:rPr sz="8500" b="1" spc="185" dirty="0">
                <a:latin typeface="Lucida Sans"/>
                <a:cs typeface="Lucida Sans"/>
              </a:rPr>
              <a:t>Agenda</a:t>
            </a:r>
            <a:endParaRPr sz="8500">
              <a:latin typeface="Lucida Sans"/>
              <a:cs typeface="Lucida Sans"/>
            </a:endParaRPr>
          </a:p>
        </p:txBody>
      </p:sp>
      <p:sp>
        <p:nvSpPr>
          <p:cNvPr id="4" name="object 4"/>
          <p:cNvSpPr/>
          <p:nvPr/>
        </p:nvSpPr>
        <p:spPr>
          <a:xfrm>
            <a:off x="0" y="9353550"/>
            <a:ext cx="8684895" cy="269240"/>
          </a:xfrm>
          <a:custGeom>
            <a:avLst/>
            <a:gdLst/>
            <a:ahLst/>
            <a:cxnLst/>
            <a:rect l="l" t="t" r="r" b="b"/>
            <a:pathLst>
              <a:path w="8684895" h="269240">
                <a:moveTo>
                  <a:pt x="8684793" y="0"/>
                </a:moveTo>
                <a:lnTo>
                  <a:pt x="0" y="0"/>
                </a:lnTo>
                <a:lnTo>
                  <a:pt x="0" y="269163"/>
                </a:lnTo>
                <a:lnTo>
                  <a:pt x="8684793" y="269163"/>
                </a:lnTo>
                <a:lnTo>
                  <a:pt x="8684793" y="0"/>
                </a:lnTo>
                <a:close/>
              </a:path>
            </a:pathLst>
          </a:custGeom>
          <a:solidFill>
            <a:srgbClr val="000000"/>
          </a:solidFill>
        </p:spPr>
        <p:txBody>
          <a:bodyPr wrap="square" lIns="0" tIns="0" rIns="0" bIns="0" rtlCol="0"/>
          <a:lstStyle/>
          <a:p>
            <a:endParaRPr/>
          </a:p>
        </p:txBody>
      </p:sp>
      <p:sp>
        <p:nvSpPr>
          <p:cNvPr id="5" name="object 5"/>
          <p:cNvSpPr/>
          <p:nvPr/>
        </p:nvSpPr>
        <p:spPr>
          <a:xfrm>
            <a:off x="14597495" y="9344025"/>
            <a:ext cx="2291080" cy="278765"/>
          </a:xfrm>
          <a:custGeom>
            <a:avLst/>
            <a:gdLst/>
            <a:ahLst/>
            <a:cxnLst/>
            <a:rect l="l" t="t" r="r" b="b"/>
            <a:pathLst>
              <a:path w="2291080" h="278765">
                <a:moveTo>
                  <a:pt x="2290762" y="0"/>
                </a:moveTo>
                <a:lnTo>
                  <a:pt x="0" y="0"/>
                </a:lnTo>
                <a:lnTo>
                  <a:pt x="0" y="278688"/>
                </a:lnTo>
                <a:lnTo>
                  <a:pt x="2290762" y="278688"/>
                </a:lnTo>
                <a:lnTo>
                  <a:pt x="2290762" y="0"/>
                </a:lnTo>
                <a:close/>
              </a:path>
            </a:pathLst>
          </a:custGeom>
          <a:solidFill>
            <a:srgbClr val="7491E8"/>
          </a:solidFill>
        </p:spPr>
        <p:txBody>
          <a:bodyPr wrap="square" lIns="0" tIns="0" rIns="0" bIns="0" rtlCol="0"/>
          <a:lstStyle/>
          <a:p>
            <a:endParaRPr/>
          </a:p>
        </p:txBody>
      </p:sp>
      <p:sp>
        <p:nvSpPr>
          <p:cNvPr id="6" name="object 6"/>
          <p:cNvSpPr/>
          <p:nvPr/>
        </p:nvSpPr>
        <p:spPr>
          <a:xfrm>
            <a:off x="9572243" y="9353550"/>
            <a:ext cx="4581525" cy="269240"/>
          </a:xfrm>
          <a:custGeom>
            <a:avLst/>
            <a:gdLst/>
            <a:ahLst/>
            <a:cxnLst/>
            <a:rect l="l" t="t" r="r" b="b"/>
            <a:pathLst>
              <a:path w="4581525" h="269240">
                <a:moveTo>
                  <a:pt x="4581525" y="0"/>
                </a:moveTo>
                <a:lnTo>
                  <a:pt x="0" y="0"/>
                </a:lnTo>
                <a:lnTo>
                  <a:pt x="0" y="269163"/>
                </a:lnTo>
                <a:lnTo>
                  <a:pt x="4581525" y="269163"/>
                </a:lnTo>
                <a:lnTo>
                  <a:pt x="4581525" y="0"/>
                </a:lnTo>
                <a:close/>
              </a:path>
            </a:pathLst>
          </a:custGeom>
          <a:solidFill>
            <a:srgbClr val="2B57D9"/>
          </a:solidFill>
        </p:spPr>
        <p:txBody>
          <a:bodyPr wrap="square" lIns="0" tIns="0" rIns="0" bIns="0" rtlCol="0"/>
          <a:lstStyle/>
          <a:p>
            <a:endParaRPr/>
          </a:p>
        </p:txBody>
      </p:sp>
      <p:sp>
        <p:nvSpPr>
          <p:cNvPr id="7" name="object 7"/>
          <p:cNvSpPr/>
          <p:nvPr/>
        </p:nvSpPr>
        <p:spPr>
          <a:xfrm>
            <a:off x="17110099" y="9344025"/>
            <a:ext cx="1177925" cy="278765"/>
          </a:xfrm>
          <a:custGeom>
            <a:avLst/>
            <a:gdLst/>
            <a:ahLst/>
            <a:cxnLst/>
            <a:rect l="l" t="t" r="r" b="b"/>
            <a:pathLst>
              <a:path w="1177925" h="278765">
                <a:moveTo>
                  <a:pt x="1177899" y="0"/>
                </a:moveTo>
                <a:lnTo>
                  <a:pt x="0" y="0"/>
                </a:lnTo>
                <a:lnTo>
                  <a:pt x="0" y="278688"/>
                </a:lnTo>
                <a:lnTo>
                  <a:pt x="1177899" y="278688"/>
                </a:lnTo>
                <a:lnTo>
                  <a:pt x="1177899" y="0"/>
                </a:lnTo>
                <a:close/>
              </a:path>
            </a:pathLst>
          </a:custGeom>
          <a:solidFill>
            <a:srgbClr val="A5CAF3"/>
          </a:solidFill>
        </p:spPr>
        <p:txBody>
          <a:bodyPr wrap="square" lIns="0" tIns="0" rIns="0" bIns="0" rtlCol="0"/>
          <a:lstStyle/>
          <a:p>
            <a:endParaRPr/>
          </a:p>
        </p:txBody>
      </p:sp>
      <p:sp>
        <p:nvSpPr>
          <p:cNvPr id="9" name="object 9"/>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10" name="object 10"/>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endParaRPr sz="2000" dirty="0">
              <a:latin typeface="Century"/>
              <a:cs typeface="Century"/>
            </a:endParaRPr>
          </a:p>
        </p:txBody>
      </p:sp>
      <p:sp>
        <p:nvSpPr>
          <p:cNvPr id="11" name="object 11"/>
          <p:cNvSpPr txBox="1"/>
          <p:nvPr/>
        </p:nvSpPr>
        <p:spPr>
          <a:xfrm>
            <a:off x="16100480" y="333863"/>
            <a:ext cx="1577920"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12" name="object 12"/>
          <p:cNvSpPr txBox="1"/>
          <p:nvPr/>
        </p:nvSpPr>
        <p:spPr>
          <a:xfrm>
            <a:off x="10684060" y="1813091"/>
            <a:ext cx="5013140" cy="695703"/>
          </a:xfrm>
          <a:prstGeom prst="rect">
            <a:avLst/>
          </a:prstGeom>
        </p:spPr>
        <p:txBody>
          <a:bodyPr vert="horz" wrap="square" lIns="0" tIns="186055" rIns="0" bIns="0" rtlCol="0">
            <a:spAutoFit/>
          </a:bodyPr>
          <a:lstStyle/>
          <a:p>
            <a:pPr marL="12700">
              <a:lnSpc>
                <a:spcPct val="100000"/>
              </a:lnSpc>
              <a:spcBef>
                <a:spcPts val="1465"/>
              </a:spcBef>
            </a:pPr>
            <a:r>
              <a:rPr lang="en-US" sz="3300" dirty="0">
                <a:latin typeface="Century"/>
                <a:cs typeface="Century"/>
              </a:rPr>
              <a:t>Learning by Interaction</a:t>
            </a:r>
            <a:endParaRPr sz="3300" dirty="0">
              <a:latin typeface="Century"/>
              <a:cs typeface="Century"/>
            </a:endParaRPr>
          </a:p>
        </p:txBody>
      </p:sp>
      <p:sp>
        <p:nvSpPr>
          <p:cNvPr id="13" name="object 13"/>
          <p:cNvSpPr txBox="1"/>
          <p:nvPr/>
        </p:nvSpPr>
        <p:spPr>
          <a:xfrm>
            <a:off x="10684060" y="3089441"/>
            <a:ext cx="5927540" cy="695703"/>
          </a:xfrm>
          <a:prstGeom prst="rect">
            <a:avLst/>
          </a:prstGeom>
        </p:spPr>
        <p:txBody>
          <a:bodyPr vert="horz" wrap="square" lIns="0" tIns="186055" rIns="0" bIns="0" rtlCol="0">
            <a:spAutoFit/>
          </a:bodyPr>
          <a:lstStyle/>
          <a:p>
            <a:pPr marL="12700">
              <a:lnSpc>
                <a:spcPct val="100000"/>
              </a:lnSpc>
              <a:spcBef>
                <a:spcPts val="1465"/>
              </a:spcBef>
            </a:pPr>
            <a:r>
              <a:rPr lang="en-US" sz="3300" dirty="0">
                <a:latin typeface="Century"/>
                <a:cs typeface="Century"/>
              </a:rPr>
              <a:t>Reinforcement Learning (RL)</a:t>
            </a:r>
            <a:endParaRPr sz="3300" dirty="0">
              <a:latin typeface="Century"/>
              <a:cs typeface="Century"/>
            </a:endParaRPr>
          </a:p>
        </p:txBody>
      </p:sp>
      <p:sp>
        <p:nvSpPr>
          <p:cNvPr id="14" name="object 14"/>
          <p:cNvSpPr txBox="1"/>
          <p:nvPr/>
        </p:nvSpPr>
        <p:spPr>
          <a:xfrm>
            <a:off x="10684060" y="4365791"/>
            <a:ext cx="6689540" cy="695703"/>
          </a:xfrm>
          <a:prstGeom prst="rect">
            <a:avLst/>
          </a:prstGeom>
        </p:spPr>
        <p:txBody>
          <a:bodyPr vert="horz" wrap="square" lIns="0" tIns="186055" rIns="0" bIns="0" rtlCol="0">
            <a:spAutoFit/>
          </a:bodyPr>
          <a:lstStyle/>
          <a:p>
            <a:pPr marL="12700">
              <a:spcBef>
                <a:spcPts val="1465"/>
              </a:spcBef>
            </a:pPr>
            <a:r>
              <a:rPr lang="en-US" sz="3300" spc="-65" dirty="0">
                <a:latin typeface="Century"/>
                <a:cs typeface="Century"/>
              </a:rPr>
              <a:t>Elements of RL</a:t>
            </a:r>
            <a:endParaRPr lang="en-US" sz="3300" dirty="0">
              <a:latin typeface="Century"/>
              <a:cs typeface="Century"/>
            </a:endParaRPr>
          </a:p>
        </p:txBody>
      </p:sp>
      <p:sp>
        <p:nvSpPr>
          <p:cNvPr id="15" name="object 15"/>
          <p:cNvSpPr txBox="1"/>
          <p:nvPr/>
        </p:nvSpPr>
        <p:spPr>
          <a:xfrm>
            <a:off x="10614117" y="6873665"/>
            <a:ext cx="5622764" cy="1203535"/>
          </a:xfrm>
          <a:prstGeom prst="rect">
            <a:avLst/>
          </a:prstGeom>
        </p:spPr>
        <p:txBody>
          <a:bodyPr vert="horz" wrap="square" lIns="0" tIns="186055" rIns="0" bIns="0" rtlCol="0">
            <a:spAutoFit/>
          </a:bodyPr>
          <a:lstStyle/>
          <a:p>
            <a:pPr marL="12700">
              <a:lnSpc>
                <a:spcPct val="100000"/>
              </a:lnSpc>
              <a:spcBef>
                <a:spcPts val="1465"/>
              </a:spcBef>
            </a:pPr>
            <a:r>
              <a:rPr lang="en-US" sz="3300" spc="-25" dirty="0">
                <a:latin typeface="Century"/>
                <a:cs typeface="Century"/>
              </a:rPr>
              <a:t>Difference from Supervised and Unsupervised Learning</a:t>
            </a:r>
            <a:endParaRPr lang="en-US" sz="3300" dirty="0">
              <a:latin typeface="Century"/>
              <a:cs typeface="Century"/>
            </a:endParaRPr>
          </a:p>
        </p:txBody>
      </p:sp>
      <p:sp>
        <p:nvSpPr>
          <p:cNvPr id="17" name="object 17"/>
          <p:cNvSpPr txBox="1"/>
          <p:nvPr/>
        </p:nvSpPr>
        <p:spPr>
          <a:xfrm>
            <a:off x="9617075" y="1972492"/>
            <a:ext cx="541020" cy="527050"/>
          </a:xfrm>
          <a:prstGeom prst="rect">
            <a:avLst/>
          </a:prstGeom>
        </p:spPr>
        <p:txBody>
          <a:bodyPr vert="horz" wrap="square" lIns="0" tIns="11430" rIns="0" bIns="0" rtlCol="0">
            <a:spAutoFit/>
          </a:bodyPr>
          <a:lstStyle/>
          <a:p>
            <a:pPr marL="12700">
              <a:lnSpc>
                <a:spcPct val="100000"/>
              </a:lnSpc>
              <a:spcBef>
                <a:spcPts val="90"/>
              </a:spcBef>
            </a:pPr>
            <a:r>
              <a:rPr sz="3300" spc="-160" dirty="0">
                <a:solidFill>
                  <a:srgbClr val="2B57D9"/>
                </a:solidFill>
                <a:latin typeface="Century Gothic"/>
                <a:cs typeface="Century Gothic"/>
              </a:rPr>
              <a:t>01.</a:t>
            </a:r>
            <a:endParaRPr sz="3300" dirty="0">
              <a:latin typeface="Century Gothic"/>
              <a:cs typeface="Century Gothic"/>
            </a:endParaRPr>
          </a:p>
        </p:txBody>
      </p:sp>
      <p:sp>
        <p:nvSpPr>
          <p:cNvPr id="18" name="object 18"/>
          <p:cNvSpPr txBox="1"/>
          <p:nvPr/>
        </p:nvSpPr>
        <p:spPr>
          <a:xfrm>
            <a:off x="9617075" y="3249052"/>
            <a:ext cx="631825" cy="527050"/>
          </a:xfrm>
          <a:prstGeom prst="rect">
            <a:avLst/>
          </a:prstGeom>
        </p:spPr>
        <p:txBody>
          <a:bodyPr vert="horz" wrap="square" lIns="0" tIns="11430" rIns="0" bIns="0" rtlCol="0">
            <a:spAutoFit/>
          </a:bodyPr>
          <a:lstStyle/>
          <a:p>
            <a:pPr marL="12700">
              <a:lnSpc>
                <a:spcPct val="100000"/>
              </a:lnSpc>
              <a:spcBef>
                <a:spcPts val="90"/>
              </a:spcBef>
            </a:pPr>
            <a:r>
              <a:rPr sz="3300" spc="30" dirty="0">
                <a:solidFill>
                  <a:srgbClr val="2B57D9"/>
                </a:solidFill>
                <a:latin typeface="Century Gothic"/>
                <a:cs typeface="Century Gothic"/>
              </a:rPr>
              <a:t>02.</a:t>
            </a:r>
            <a:endParaRPr sz="3300">
              <a:latin typeface="Century Gothic"/>
              <a:cs typeface="Century Gothic"/>
            </a:endParaRPr>
          </a:p>
        </p:txBody>
      </p:sp>
      <p:sp>
        <p:nvSpPr>
          <p:cNvPr id="19" name="object 19"/>
          <p:cNvSpPr txBox="1"/>
          <p:nvPr/>
        </p:nvSpPr>
        <p:spPr>
          <a:xfrm>
            <a:off x="9617075" y="4525612"/>
            <a:ext cx="622300" cy="527050"/>
          </a:xfrm>
          <a:prstGeom prst="rect">
            <a:avLst/>
          </a:prstGeom>
        </p:spPr>
        <p:txBody>
          <a:bodyPr vert="horz" wrap="square" lIns="0" tIns="11430" rIns="0" bIns="0" rtlCol="0">
            <a:spAutoFit/>
          </a:bodyPr>
          <a:lstStyle/>
          <a:p>
            <a:pPr marL="12700">
              <a:lnSpc>
                <a:spcPct val="100000"/>
              </a:lnSpc>
              <a:spcBef>
                <a:spcPts val="90"/>
              </a:spcBef>
            </a:pPr>
            <a:r>
              <a:rPr sz="3300" spc="-25" dirty="0">
                <a:solidFill>
                  <a:srgbClr val="2B57D9"/>
                </a:solidFill>
                <a:latin typeface="Century Gothic"/>
                <a:cs typeface="Century Gothic"/>
              </a:rPr>
              <a:t>03.</a:t>
            </a:r>
            <a:endParaRPr sz="3300">
              <a:latin typeface="Century Gothic"/>
              <a:cs typeface="Century Gothic"/>
            </a:endParaRPr>
          </a:p>
        </p:txBody>
      </p:sp>
      <p:sp>
        <p:nvSpPr>
          <p:cNvPr id="20" name="object 20"/>
          <p:cNvSpPr txBox="1"/>
          <p:nvPr/>
        </p:nvSpPr>
        <p:spPr>
          <a:xfrm>
            <a:off x="9617075" y="5821048"/>
            <a:ext cx="675640" cy="527050"/>
          </a:xfrm>
          <a:prstGeom prst="rect">
            <a:avLst/>
          </a:prstGeom>
        </p:spPr>
        <p:txBody>
          <a:bodyPr vert="horz" wrap="square" lIns="0" tIns="11430" rIns="0" bIns="0" rtlCol="0">
            <a:spAutoFit/>
          </a:bodyPr>
          <a:lstStyle/>
          <a:p>
            <a:pPr marL="12700">
              <a:lnSpc>
                <a:spcPct val="100000"/>
              </a:lnSpc>
              <a:spcBef>
                <a:spcPts val="90"/>
              </a:spcBef>
            </a:pPr>
            <a:r>
              <a:rPr sz="3300" spc="150" dirty="0">
                <a:solidFill>
                  <a:srgbClr val="2B57D9"/>
                </a:solidFill>
                <a:latin typeface="Century Gothic"/>
                <a:cs typeface="Century Gothic"/>
              </a:rPr>
              <a:t>04.</a:t>
            </a:r>
            <a:endParaRPr sz="3300">
              <a:latin typeface="Century Gothic"/>
              <a:cs typeface="Century Gothic"/>
            </a:endParaRPr>
          </a:p>
        </p:txBody>
      </p:sp>
      <p:sp>
        <p:nvSpPr>
          <p:cNvPr id="21" name="object 21"/>
          <p:cNvSpPr txBox="1"/>
          <p:nvPr/>
        </p:nvSpPr>
        <p:spPr>
          <a:xfrm>
            <a:off x="9617075" y="7250008"/>
            <a:ext cx="627380" cy="527050"/>
          </a:xfrm>
          <a:prstGeom prst="rect">
            <a:avLst/>
          </a:prstGeom>
        </p:spPr>
        <p:txBody>
          <a:bodyPr vert="horz" wrap="square" lIns="0" tIns="11430" rIns="0" bIns="0" rtlCol="0">
            <a:spAutoFit/>
          </a:bodyPr>
          <a:lstStyle/>
          <a:p>
            <a:pPr marL="12700">
              <a:lnSpc>
                <a:spcPct val="100000"/>
              </a:lnSpc>
              <a:spcBef>
                <a:spcPts val="90"/>
              </a:spcBef>
            </a:pPr>
            <a:r>
              <a:rPr sz="3300" spc="-25" dirty="0">
                <a:solidFill>
                  <a:srgbClr val="2B57D9"/>
                </a:solidFill>
                <a:latin typeface="Century Gothic"/>
                <a:cs typeface="Century Gothic"/>
              </a:rPr>
              <a:t>05.</a:t>
            </a:r>
            <a:endParaRPr sz="3300" dirty="0">
              <a:latin typeface="Century Gothic"/>
              <a:cs typeface="Century Gothic"/>
            </a:endParaRPr>
          </a:p>
        </p:txBody>
      </p:sp>
      <p:sp>
        <p:nvSpPr>
          <p:cNvPr id="8" name="object 14">
            <a:extLst>
              <a:ext uri="{FF2B5EF4-FFF2-40B4-BE49-F238E27FC236}">
                <a16:creationId xmlns:a16="http://schemas.microsoft.com/office/drawing/2014/main" id="{2DBDBB3E-892D-C549-5726-4E8489EA656B}"/>
              </a:ext>
            </a:extLst>
          </p:cNvPr>
          <p:cNvSpPr txBox="1"/>
          <p:nvPr/>
        </p:nvSpPr>
        <p:spPr>
          <a:xfrm>
            <a:off x="10684060" y="5652395"/>
            <a:ext cx="6689540" cy="695703"/>
          </a:xfrm>
          <a:prstGeom prst="rect">
            <a:avLst/>
          </a:prstGeom>
        </p:spPr>
        <p:txBody>
          <a:bodyPr vert="horz" wrap="square" lIns="0" tIns="186055" rIns="0" bIns="0" rtlCol="0">
            <a:spAutoFit/>
          </a:bodyPr>
          <a:lstStyle/>
          <a:p>
            <a:pPr marL="12700">
              <a:spcBef>
                <a:spcPts val="1465"/>
              </a:spcBef>
            </a:pPr>
            <a:r>
              <a:rPr lang="en-US" sz="3300" spc="-65" dirty="0">
                <a:latin typeface="Century"/>
                <a:cs typeface="Century"/>
              </a:rPr>
              <a:t>Examples</a:t>
            </a:r>
            <a:endParaRPr lang="en-US" sz="3300" dirty="0">
              <a:latin typeface="Century"/>
              <a:cs typeface="Centur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3" name="object 3"/>
          <p:cNvSpPr txBox="1"/>
          <p:nvPr/>
        </p:nvSpPr>
        <p:spPr>
          <a:xfrm>
            <a:off x="9617074" y="333678"/>
            <a:ext cx="29559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endParaRPr sz="2000" dirty="0">
              <a:latin typeface="Century"/>
              <a:cs typeface="Century"/>
            </a:endParaRPr>
          </a:p>
        </p:txBody>
      </p:sp>
      <p:sp>
        <p:nvSpPr>
          <p:cNvPr id="4" name="object 4"/>
          <p:cNvSpPr txBox="1"/>
          <p:nvPr/>
        </p:nvSpPr>
        <p:spPr>
          <a:xfrm>
            <a:off x="16100480" y="333863"/>
            <a:ext cx="1654120"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5" name="object 5"/>
          <p:cNvSpPr txBox="1"/>
          <p:nvPr/>
        </p:nvSpPr>
        <p:spPr>
          <a:xfrm>
            <a:off x="9565881" y="6398572"/>
            <a:ext cx="7610475" cy="1929373"/>
          </a:xfrm>
          <a:prstGeom prst="rect">
            <a:avLst/>
          </a:prstGeom>
        </p:spPr>
        <p:txBody>
          <a:bodyPr vert="horz" wrap="square" lIns="0" tIns="107314" rIns="0" bIns="0" rtlCol="0">
            <a:spAutoFit/>
          </a:bodyPr>
          <a:lstStyle/>
          <a:p>
            <a:pPr marL="12700" marR="5080">
              <a:lnSpc>
                <a:spcPts val="7140"/>
              </a:lnSpc>
              <a:spcBef>
                <a:spcPts val="844"/>
              </a:spcBef>
            </a:pPr>
            <a:r>
              <a:rPr lang="en-US" sz="6500" b="1" spc="655" dirty="0">
                <a:latin typeface="Century Gothic"/>
                <a:cs typeface="Century Gothic"/>
              </a:rPr>
              <a:t>Learning by Interaction</a:t>
            </a:r>
            <a:endParaRPr sz="6500" b="1" dirty="0">
              <a:latin typeface="Century Gothic"/>
              <a:cs typeface="Century Gothic"/>
            </a:endParaRPr>
          </a:p>
        </p:txBody>
      </p:sp>
      <p:sp>
        <p:nvSpPr>
          <p:cNvPr id="6" name="object 6"/>
          <p:cNvSpPr txBox="1"/>
          <p:nvPr/>
        </p:nvSpPr>
        <p:spPr>
          <a:xfrm>
            <a:off x="899140" y="6778545"/>
            <a:ext cx="1562100" cy="1549400"/>
          </a:xfrm>
          <a:prstGeom prst="rect">
            <a:avLst/>
          </a:prstGeom>
        </p:spPr>
        <p:txBody>
          <a:bodyPr vert="horz" wrap="square" lIns="0" tIns="12700" rIns="0" bIns="0" rtlCol="0">
            <a:spAutoFit/>
          </a:bodyPr>
          <a:lstStyle/>
          <a:p>
            <a:pPr marL="12700">
              <a:lnSpc>
                <a:spcPct val="100000"/>
              </a:lnSpc>
              <a:spcBef>
                <a:spcPts val="100"/>
              </a:spcBef>
            </a:pPr>
            <a:r>
              <a:rPr sz="10000" spc="-620" dirty="0">
                <a:latin typeface="Century Gothic"/>
                <a:cs typeface="Century Gothic"/>
              </a:rPr>
              <a:t>01.</a:t>
            </a:r>
            <a:endParaRPr sz="10000" dirty="0">
              <a:latin typeface="Century Gothic"/>
              <a:cs typeface="Century Gothic"/>
            </a:endParaRPr>
          </a:p>
        </p:txBody>
      </p:sp>
      <p:sp>
        <p:nvSpPr>
          <p:cNvPr id="7" name="object 7"/>
          <p:cNvSpPr/>
          <p:nvPr/>
        </p:nvSpPr>
        <p:spPr>
          <a:xfrm>
            <a:off x="0" y="9353550"/>
            <a:ext cx="8678545" cy="269240"/>
          </a:xfrm>
          <a:custGeom>
            <a:avLst/>
            <a:gdLst/>
            <a:ahLst/>
            <a:cxnLst/>
            <a:rect l="l" t="t" r="r" b="b"/>
            <a:pathLst>
              <a:path w="8678545" h="269240">
                <a:moveTo>
                  <a:pt x="8678430" y="0"/>
                </a:moveTo>
                <a:lnTo>
                  <a:pt x="0" y="0"/>
                </a:lnTo>
                <a:lnTo>
                  <a:pt x="0" y="269163"/>
                </a:lnTo>
                <a:lnTo>
                  <a:pt x="8678430" y="269163"/>
                </a:lnTo>
                <a:lnTo>
                  <a:pt x="8678430" y="0"/>
                </a:lnTo>
                <a:close/>
              </a:path>
            </a:pathLst>
          </a:custGeom>
          <a:solidFill>
            <a:srgbClr val="000000"/>
          </a:solidFill>
        </p:spPr>
        <p:txBody>
          <a:bodyPr wrap="square" lIns="0" tIns="0" rIns="0" bIns="0" rtlCol="0"/>
          <a:lstStyle/>
          <a:p>
            <a:endParaRPr/>
          </a:p>
        </p:txBody>
      </p:sp>
      <p:sp>
        <p:nvSpPr>
          <p:cNvPr id="8" name="object 8"/>
          <p:cNvSpPr/>
          <p:nvPr/>
        </p:nvSpPr>
        <p:spPr>
          <a:xfrm>
            <a:off x="14591118" y="9344025"/>
            <a:ext cx="2291080" cy="278765"/>
          </a:xfrm>
          <a:custGeom>
            <a:avLst/>
            <a:gdLst/>
            <a:ahLst/>
            <a:cxnLst/>
            <a:rect l="l" t="t" r="r" b="b"/>
            <a:pathLst>
              <a:path w="2291080" h="278765">
                <a:moveTo>
                  <a:pt x="2290762" y="0"/>
                </a:moveTo>
                <a:lnTo>
                  <a:pt x="0" y="0"/>
                </a:lnTo>
                <a:lnTo>
                  <a:pt x="0" y="278688"/>
                </a:lnTo>
                <a:lnTo>
                  <a:pt x="2290762" y="278688"/>
                </a:lnTo>
                <a:lnTo>
                  <a:pt x="2290762" y="0"/>
                </a:lnTo>
                <a:close/>
              </a:path>
            </a:pathLst>
          </a:custGeom>
          <a:solidFill>
            <a:srgbClr val="7491E8"/>
          </a:solidFill>
        </p:spPr>
        <p:txBody>
          <a:bodyPr wrap="square" lIns="0" tIns="0" rIns="0" bIns="0" rtlCol="0"/>
          <a:lstStyle/>
          <a:p>
            <a:endParaRPr/>
          </a:p>
        </p:txBody>
      </p:sp>
      <p:sp>
        <p:nvSpPr>
          <p:cNvPr id="9" name="object 9"/>
          <p:cNvSpPr/>
          <p:nvPr/>
        </p:nvSpPr>
        <p:spPr>
          <a:xfrm>
            <a:off x="9565881" y="9353550"/>
            <a:ext cx="4581525" cy="269240"/>
          </a:xfrm>
          <a:custGeom>
            <a:avLst/>
            <a:gdLst/>
            <a:ahLst/>
            <a:cxnLst/>
            <a:rect l="l" t="t" r="r" b="b"/>
            <a:pathLst>
              <a:path w="4581525" h="269240">
                <a:moveTo>
                  <a:pt x="4581525" y="0"/>
                </a:moveTo>
                <a:lnTo>
                  <a:pt x="0" y="0"/>
                </a:lnTo>
                <a:lnTo>
                  <a:pt x="0" y="269163"/>
                </a:lnTo>
                <a:lnTo>
                  <a:pt x="4581525" y="269163"/>
                </a:lnTo>
                <a:lnTo>
                  <a:pt x="4581525" y="0"/>
                </a:lnTo>
                <a:close/>
              </a:path>
            </a:pathLst>
          </a:custGeom>
          <a:solidFill>
            <a:srgbClr val="2B57D9"/>
          </a:solidFill>
        </p:spPr>
        <p:txBody>
          <a:bodyPr wrap="square" lIns="0" tIns="0" rIns="0" bIns="0" rtlCol="0"/>
          <a:lstStyle/>
          <a:p>
            <a:endParaRPr/>
          </a:p>
        </p:txBody>
      </p:sp>
      <p:sp>
        <p:nvSpPr>
          <p:cNvPr id="10" name="object 10"/>
          <p:cNvSpPr/>
          <p:nvPr/>
        </p:nvSpPr>
        <p:spPr>
          <a:xfrm>
            <a:off x="17103737" y="9344025"/>
            <a:ext cx="1184275" cy="278765"/>
          </a:xfrm>
          <a:custGeom>
            <a:avLst/>
            <a:gdLst/>
            <a:ahLst/>
            <a:cxnLst/>
            <a:rect l="l" t="t" r="r" b="b"/>
            <a:pathLst>
              <a:path w="1184275" h="278765">
                <a:moveTo>
                  <a:pt x="1184262" y="0"/>
                </a:moveTo>
                <a:lnTo>
                  <a:pt x="0" y="0"/>
                </a:lnTo>
                <a:lnTo>
                  <a:pt x="0" y="278688"/>
                </a:lnTo>
                <a:lnTo>
                  <a:pt x="1184262" y="278688"/>
                </a:lnTo>
                <a:lnTo>
                  <a:pt x="1184262" y="0"/>
                </a:lnTo>
                <a:close/>
              </a:path>
            </a:pathLst>
          </a:custGeom>
          <a:solidFill>
            <a:srgbClr val="A5CAF3"/>
          </a:solid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A3080-35C4-0E15-CBCB-7E98AAD066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0017828-0B24-05F5-3EF1-5BF4F917FADE}"/>
              </a:ext>
            </a:extLst>
          </p:cNvPr>
          <p:cNvSpPr txBox="1">
            <a:spLocks noGrp="1"/>
          </p:cNvSpPr>
          <p:nvPr>
            <p:ph type="body" idx="1"/>
          </p:nvPr>
        </p:nvSpPr>
        <p:spPr>
          <a:xfrm>
            <a:off x="695520" y="2171700"/>
            <a:ext cx="7750175" cy="7328416"/>
          </a:xfrm>
          <a:prstGeom prst="rect">
            <a:avLst/>
          </a:prstGeom>
        </p:spPr>
        <p:txBody>
          <a:bodyPr vert="horz" wrap="square" lIns="0" tIns="11430" rIns="0" bIns="0" rtlCol="0">
            <a:spAutoFit/>
          </a:bodyPr>
          <a:lstStyle/>
          <a:p>
            <a:pPr marL="584200" indent="-571500" algn="just">
              <a:lnSpc>
                <a:spcPct val="150000"/>
              </a:lnSpc>
              <a:spcBef>
                <a:spcPts val="90"/>
              </a:spcBef>
              <a:buFont typeface="Wingdings" panose="05000000000000000000" pitchFamily="2" charset="2"/>
              <a:buChar char="§"/>
            </a:pPr>
            <a:r>
              <a:rPr lang="en-US" sz="4000" dirty="0">
                <a:latin typeface="+mn-lt"/>
              </a:rPr>
              <a:t>No explicit teacher.</a:t>
            </a:r>
          </a:p>
          <a:p>
            <a:pPr marL="584200" indent="-571500" algn="just">
              <a:lnSpc>
                <a:spcPct val="150000"/>
              </a:lnSpc>
              <a:spcBef>
                <a:spcPts val="90"/>
              </a:spcBef>
              <a:buFont typeface="Wingdings" panose="05000000000000000000" pitchFamily="2" charset="2"/>
              <a:buChar char="§"/>
            </a:pPr>
            <a:r>
              <a:rPr lang="en-US" sz="4000" dirty="0">
                <a:latin typeface="+mn-lt"/>
              </a:rPr>
              <a:t>Direct interaction with the environment. </a:t>
            </a:r>
          </a:p>
          <a:p>
            <a:pPr marL="571500" indent="-571500" algn="just">
              <a:lnSpc>
                <a:spcPct val="150000"/>
              </a:lnSpc>
              <a:buFont typeface="Wingdings" panose="05000000000000000000" pitchFamily="2" charset="2"/>
              <a:buChar char="§"/>
            </a:pPr>
            <a:r>
              <a:rPr lang="en-US" sz="4000" dirty="0">
                <a:latin typeface="+mn-lt"/>
              </a:rPr>
              <a:t>Learn cause and effect, and about what to do to achieve goals. </a:t>
            </a:r>
          </a:p>
          <a:p>
            <a:pPr marL="584200" indent="-571500" algn="just">
              <a:lnSpc>
                <a:spcPct val="150000"/>
              </a:lnSpc>
              <a:spcBef>
                <a:spcPts val="90"/>
              </a:spcBef>
              <a:buFont typeface="Wingdings" panose="05000000000000000000" pitchFamily="2" charset="2"/>
              <a:buChar char="§"/>
            </a:pPr>
            <a:r>
              <a:rPr lang="en-US" sz="4000" dirty="0">
                <a:latin typeface="+mn-lt"/>
              </a:rPr>
              <a:t>Examples: Infant movement, driving a car or holding a conversation.</a:t>
            </a:r>
            <a:endParaRPr sz="4000" dirty="0">
              <a:latin typeface="+mn-lt"/>
              <a:cs typeface="Century"/>
            </a:endParaRPr>
          </a:p>
        </p:txBody>
      </p:sp>
      <p:sp>
        <p:nvSpPr>
          <p:cNvPr id="4" name="object 4">
            <a:extLst>
              <a:ext uri="{FF2B5EF4-FFF2-40B4-BE49-F238E27FC236}">
                <a16:creationId xmlns:a16="http://schemas.microsoft.com/office/drawing/2014/main" id="{ED3444A8-6B67-0CB6-FDEF-AA90C711A21B}"/>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4D3CFBCB-1EDB-09EB-C3C8-A70DE8B542FF}"/>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82B47295-076B-A988-A113-0BD73101527C}"/>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pic>
        <p:nvPicPr>
          <p:cNvPr id="1026" name="Picture 2" descr="Interactive Play Helps Your Child Reach Developmental Milestones – Le Toy  Van, Inc.">
            <a:extLst>
              <a:ext uri="{FF2B5EF4-FFF2-40B4-BE49-F238E27FC236}">
                <a16:creationId xmlns:a16="http://schemas.microsoft.com/office/drawing/2014/main" id="{B57996CF-4E9A-3808-85BD-3E1D198119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9775" y="2171700"/>
            <a:ext cx="8100000" cy="5400000"/>
          </a:xfrm>
          <a:prstGeom prst="rect">
            <a:avLst/>
          </a:prstGeom>
          <a:noFill/>
          <a:extLst>
            <a:ext uri="{909E8E84-426E-40DD-AFC4-6F175D3DCCD1}">
              <a14:hiddenFill xmlns:a14="http://schemas.microsoft.com/office/drawing/2010/main">
                <a:solidFill>
                  <a:srgbClr val="FFFFFF"/>
                </a:solidFill>
              </a14:hiddenFill>
            </a:ext>
          </a:extLst>
        </p:spPr>
      </p:pic>
      <p:sp>
        <p:nvSpPr>
          <p:cNvPr id="10" name="object 5">
            <a:extLst>
              <a:ext uri="{FF2B5EF4-FFF2-40B4-BE49-F238E27FC236}">
                <a16:creationId xmlns:a16="http://schemas.microsoft.com/office/drawing/2014/main" id="{A6613BEE-CFAF-3ACB-BA00-3B647F937F16}"/>
              </a:ext>
            </a:extLst>
          </p:cNvPr>
          <p:cNvSpPr txBox="1"/>
          <p:nvPr/>
        </p:nvSpPr>
        <p:spPr>
          <a:xfrm>
            <a:off x="693175" y="942975"/>
            <a:ext cx="8936600"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Learning by Interaction</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2526409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B8C25-042C-4976-197B-A7FF4C12BE2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0044E5B-41E3-C089-F241-2E6860E799B3}"/>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EDB3B786-C8F5-F205-D86E-48637F99B1A1}"/>
              </a:ext>
            </a:extLst>
          </p:cNvPr>
          <p:cNvSpPr txBox="1"/>
          <p:nvPr/>
        </p:nvSpPr>
        <p:spPr>
          <a:xfrm>
            <a:off x="9617074" y="333678"/>
            <a:ext cx="29559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endParaRPr sz="2000" dirty="0">
              <a:latin typeface="Century"/>
              <a:cs typeface="Century"/>
            </a:endParaRPr>
          </a:p>
        </p:txBody>
      </p:sp>
      <p:sp>
        <p:nvSpPr>
          <p:cNvPr id="4" name="object 4">
            <a:extLst>
              <a:ext uri="{FF2B5EF4-FFF2-40B4-BE49-F238E27FC236}">
                <a16:creationId xmlns:a16="http://schemas.microsoft.com/office/drawing/2014/main" id="{63A37690-67B6-05C5-AFCD-8A5FBCE20E17}"/>
              </a:ext>
            </a:extLst>
          </p:cNvPr>
          <p:cNvSpPr txBox="1"/>
          <p:nvPr/>
        </p:nvSpPr>
        <p:spPr>
          <a:xfrm>
            <a:off x="16100480" y="333863"/>
            <a:ext cx="1654120"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5" name="object 5">
            <a:extLst>
              <a:ext uri="{FF2B5EF4-FFF2-40B4-BE49-F238E27FC236}">
                <a16:creationId xmlns:a16="http://schemas.microsoft.com/office/drawing/2014/main" id="{13DDF207-E5FA-2863-97DC-ADC6DA47284B}"/>
              </a:ext>
            </a:extLst>
          </p:cNvPr>
          <p:cNvSpPr txBox="1"/>
          <p:nvPr/>
        </p:nvSpPr>
        <p:spPr>
          <a:xfrm>
            <a:off x="9565881" y="6398572"/>
            <a:ext cx="7610475" cy="1929373"/>
          </a:xfrm>
          <a:prstGeom prst="rect">
            <a:avLst/>
          </a:prstGeom>
        </p:spPr>
        <p:txBody>
          <a:bodyPr vert="horz" wrap="square" lIns="0" tIns="107314" rIns="0" bIns="0" rtlCol="0">
            <a:spAutoFit/>
          </a:bodyPr>
          <a:lstStyle/>
          <a:p>
            <a:pPr marL="12700" marR="5080">
              <a:lnSpc>
                <a:spcPts val="7140"/>
              </a:lnSpc>
              <a:spcBef>
                <a:spcPts val="844"/>
              </a:spcBef>
            </a:pPr>
            <a:r>
              <a:rPr lang="en-US" sz="6500" b="1" spc="655" dirty="0">
                <a:latin typeface="Century Gothic"/>
                <a:cs typeface="Century Gothic"/>
              </a:rPr>
              <a:t>Reinforcement Learning (RL)</a:t>
            </a:r>
            <a:endParaRPr sz="6500" b="1" dirty="0">
              <a:latin typeface="Century Gothic"/>
              <a:cs typeface="Century Gothic"/>
            </a:endParaRPr>
          </a:p>
        </p:txBody>
      </p:sp>
      <p:sp>
        <p:nvSpPr>
          <p:cNvPr id="6" name="object 6">
            <a:extLst>
              <a:ext uri="{FF2B5EF4-FFF2-40B4-BE49-F238E27FC236}">
                <a16:creationId xmlns:a16="http://schemas.microsoft.com/office/drawing/2014/main" id="{B83C01CA-46AC-E48B-0297-C606F1AF825B}"/>
              </a:ext>
            </a:extLst>
          </p:cNvPr>
          <p:cNvSpPr txBox="1"/>
          <p:nvPr/>
        </p:nvSpPr>
        <p:spPr>
          <a:xfrm>
            <a:off x="899140" y="6778545"/>
            <a:ext cx="1562100" cy="1549400"/>
          </a:xfrm>
          <a:prstGeom prst="rect">
            <a:avLst/>
          </a:prstGeom>
        </p:spPr>
        <p:txBody>
          <a:bodyPr vert="horz" wrap="square" lIns="0" tIns="12700" rIns="0" bIns="0" rtlCol="0">
            <a:spAutoFit/>
          </a:bodyPr>
          <a:lstStyle/>
          <a:p>
            <a:pPr marL="12700">
              <a:lnSpc>
                <a:spcPct val="100000"/>
              </a:lnSpc>
              <a:spcBef>
                <a:spcPts val="100"/>
              </a:spcBef>
            </a:pPr>
            <a:r>
              <a:rPr sz="10000" spc="-620" dirty="0">
                <a:latin typeface="Century Gothic"/>
                <a:cs typeface="Century Gothic"/>
              </a:rPr>
              <a:t>0</a:t>
            </a:r>
            <a:r>
              <a:rPr lang="en-US" sz="10000" spc="-620" dirty="0">
                <a:latin typeface="Century Gothic"/>
                <a:cs typeface="Century Gothic"/>
              </a:rPr>
              <a:t>2</a:t>
            </a:r>
            <a:r>
              <a:rPr sz="10000" spc="-620" dirty="0">
                <a:latin typeface="Century Gothic"/>
                <a:cs typeface="Century Gothic"/>
              </a:rPr>
              <a:t>.</a:t>
            </a:r>
            <a:endParaRPr sz="10000" dirty="0">
              <a:latin typeface="Century Gothic"/>
              <a:cs typeface="Century Gothic"/>
            </a:endParaRPr>
          </a:p>
        </p:txBody>
      </p:sp>
      <p:sp>
        <p:nvSpPr>
          <p:cNvPr id="7" name="object 7">
            <a:extLst>
              <a:ext uri="{FF2B5EF4-FFF2-40B4-BE49-F238E27FC236}">
                <a16:creationId xmlns:a16="http://schemas.microsoft.com/office/drawing/2014/main" id="{180AFE31-8CF3-7383-56E8-D1715E5B62FD}"/>
              </a:ext>
            </a:extLst>
          </p:cNvPr>
          <p:cNvSpPr/>
          <p:nvPr/>
        </p:nvSpPr>
        <p:spPr>
          <a:xfrm>
            <a:off x="0" y="9353550"/>
            <a:ext cx="8678545" cy="269240"/>
          </a:xfrm>
          <a:custGeom>
            <a:avLst/>
            <a:gdLst/>
            <a:ahLst/>
            <a:cxnLst/>
            <a:rect l="l" t="t" r="r" b="b"/>
            <a:pathLst>
              <a:path w="8678545" h="269240">
                <a:moveTo>
                  <a:pt x="8678430" y="0"/>
                </a:moveTo>
                <a:lnTo>
                  <a:pt x="0" y="0"/>
                </a:lnTo>
                <a:lnTo>
                  <a:pt x="0" y="269163"/>
                </a:lnTo>
                <a:lnTo>
                  <a:pt x="8678430" y="269163"/>
                </a:lnTo>
                <a:lnTo>
                  <a:pt x="8678430" y="0"/>
                </a:lnTo>
                <a:close/>
              </a:path>
            </a:pathLst>
          </a:custGeom>
          <a:solidFill>
            <a:srgbClr val="000000"/>
          </a:solidFill>
        </p:spPr>
        <p:txBody>
          <a:bodyPr wrap="square" lIns="0" tIns="0" rIns="0" bIns="0" rtlCol="0"/>
          <a:lstStyle/>
          <a:p>
            <a:endParaRPr/>
          </a:p>
        </p:txBody>
      </p:sp>
      <p:sp>
        <p:nvSpPr>
          <p:cNvPr id="8" name="object 8">
            <a:extLst>
              <a:ext uri="{FF2B5EF4-FFF2-40B4-BE49-F238E27FC236}">
                <a16:creationId xmlns:a16="http://schemas.microsoft.com/office/drawing/2014/main" id="{0ACE6A8B-237A-7ED3-AE17-91F075BA7D0D}"/>
              </a:ext>
            </a:extLst>
          </p:cNvPr>
          <p:cNvSpPr/>
          <p:nvPr/>
        </p:nvSpPr>
        <p:spPr>
          <a:xfrm>
            <a:off x="14591118" y="9344025"/>
            <a:ext cx="2291080" cy="278765"/>
          </a:xfrm>
          <a:custGeom>
            <a:avLst/>
            <a:gdLst/>
            <a:ahLst/>
            <a:cxnLst/>
            <a:rect l="l" t="t" r="r" b="b"/>
            <a:pathLst>
              <a:path w="2291080" h="278765">
                <a:moveTo>
                  <a:pt x="2290762" y="0"/>
                </a:moveTo>
                <a:lnTo>
                  <a:pt x="0" y="0"/>
                </a:lnTo>
                <a:lnTo>
                  <a:pt x="0" y="278688"/>
                </a:lnTo>
                <a:lnTo>
                  <a:pt x="2290762" y="278688"/>
                </a:lnTo>
                <a:lnTo>
                  <a:pt x="2290762" y="0"/>
                </a:lnTo>
                <a:close/>
              </a:path>
            </a:pathLst>
          </a:custGeom>
          <a:solidFill>
            <a:srgbClr val="7491E8"/>
          </a:solidFill>
        </p:spPr>
        <p:txBody>
          <a:bodyPr wrap="square" lIns="0" tIns="0" rIns="0" bIns="0" rtlCol="0"/>
          <a:lstStyle/>
          <a:p>
            <a:endParaRPr/>
          </a:p>
        </p:txBody>
      </p:sp>
      <p:sp>
        <p:nvSpPr>
          <p:cNvPr id="9" name="object 9">
            <a:extLst>
              <a:ext uri="{FF2B5EF4-FFF2-40B4-BE49-F238E27FC236}">
                <a16:creationId xmlns:a16="http://schemas.microsoft.com/office/drawing/2014/main" id="{E5FFC5C1-D97B-EFEA-3846-AF66FEB8296C}"/>
              </a:ext>
            </a:extLst>
          </p:cNvPr>
          <p:cNvSpPr/>
          <p:nvPr/>
        </p:nvSpPr>
        <p:spPr>
          <a:xfrm>
            <a:off x="9565881" y="9353550"/>
            <a:ext cx="4581525" cy="269240"/>
          </a:xfrm>
          <a:custGeom>
            <a:avLst/>
            <a:gdLst/>
            <a:ahLst/>
            <a:cxnLst/>
            <a:rect l="l" t="t" r="r" b="b"/>
            <a:pathLst>
              <a:path w="4581525" h="269240">
                <a:moveTo>
                  <a:pt x="4581525" y="0"/>
                </a:moveTo>
                <a:lnTo>
                  <a:pt x="0" y="0"/>
                </a:lnTo>
                <a:lnTo>
                  <a:pt x="0" y="269163"/>
                </a:lnTo>
                <a:lnTo>
                  <a:pt x="4581525" y="269163"/>
                </a:lnTo>
                <a:lnTo>
                  <a:pt x="4581525" y="0"/>
                </a:lnTo>
                <a:close/>
              </a:path>
            </a:pathLst>
          </a:custGeom>
          <a:solidFill>
            <a:srgbClr val="2B57D9"/>
          </a:solidFill>
        </p:spPr>
        <p:txBody>
          <a:bodyPr wrap="square" lIns="0" tIns="0" rIns="0" bIns="0" rtlCol="0"/>
          <a:lstStyle/>
          <a:p>
            <a:endParaRPr/>
          </a:p>
        </p:txBody>
      </p:sp>
      <p:sp>
        <p:nvSpPr>
          <p:cNvPr id="10" name="object 10">
            <a:extLst>
              <a:ext uri="{FF2B5EF4-FFF2-40B4-BE49-F238E27FC236}">
                <a16:creationId xmlns:a16="http://schemas.microsoft.com/office/drawing/2014/main" id="{84ECAC6C-4572-53FF-B251-4BDA401C4CD2}"/>
              </a:ext>
            </a:extLst>
          </p:cNvPr>
          <p:cNvSpPr/>
          <p:nvPr/>
        </p:nvSpPr>
        <p:spPr>
          <a:xfrm>
            <a:off x="17103737" y="9344025"/>
            <a:ext cx="1184275" cy="278765"/>
          </a:xfrm>
          <a:custGeom>
            <a:avLst/>
            <a:gdLst/>
            <a:ahLst/>
            <a:cxnLst/>
            <a:rect l="l" t="t" r="r" b="b"/>
            <a:pathLst>
              <a:path w="1184275" h="278765">
                <a:moveTo>
                  <a:pt x="1184262" y="0"/>
                </a:moveTo>
                <a:lnTo>
                  <a:pt x="0" y="0"/>
                </a:lnTo>
                <a:lnTo>
                  <a:pt x="0" y="278688"/>
                </a:lnTo>
                <a:lnTo>
                  <a:pt x="1184262" y="278688"/>
                </a:lnTo>
                <a:lnTo>
                  <a:pt x="1184262" y="0"/>
                </a:lnTo>
                <a:close/>
              </a:path>
            </a:pathLst>
          </a:custGeom>
          <a:solidFill>
            <a:srgbClr val="A5CAF3"/>
          </a:solidFill>
        </p:spPr>
        <p:txBody>
          <a:bodyPr wrap="square" lIns="0" tIns="0" rIns="0" bIns="0" rtlCol="0"/>
          <a:lstStyle/>
          <a:p>
            <a:endParaRPr/>
          </a:p>
        </p:txBody>
      </p:sp>
    </p:spTree>
    <p:extLst>
      <p:ext uri="{BB962C8B-B14F-4D97-AF65-F5344CB8AC3E}">
        <p14:creationId xmlns:p14="http://schemas.microsoft.com/office/powerpoint/2010/main" val="1208967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3811D-6100-FA66-3058-F0B6F0E7500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DF1FD36-8296-DD6D-F48E-E91F80152156}"/>
              </a:ext>
            </a:extLst>
          </p:cNvPr>
          <p:cNvSpPr txBox="1">
            <a:spLocks noGrp="1"/>
          </p:cNvSpPr>
          <p:nvPr>
            <p:ph type="body" idx="1"/>
          </p:nvPr>
        </p:nvSpPr>
        <p:spPr>
          <a:xfrm>
            <a:off x="762000" y="2444684"/>
            <a:ext cx="16764000" cy="6379439"/>
          </a:xfrm>
          <a:prstGeom prst="rect">
            <a:avLst/>
          </a:prstGeom>
        </p:spPr>
        <p:txBody>
          <a:bodyPr vert="horz" wrap="square" lIns="0" tIns="11430" rIns="0" bIns="0" rtlCol="0">
            <a:spAutoFit/>
          </a:bodyPr>
          <a:lstStyle/>
          <a:p>
            <a:pPr marL="571500" indent="-571500">
              <a:lnSpc>
                <a:spcPct val="150000"/>
              </a:lnSpc>
              <a:buFont typeface="Arial" panose="020B0604020202020204" pitchFamily="34" charset="0"/>
              <a:buChar char="•"/>
            </a:pPr>
            <a:r>
              <a:rPr lang="en-US" sz="4000" dirty="0">
                <a:latin typeface="+mn-lt"/>
              </a:rPr>
              <a:t>A computational approach to learn from interaction.</a:t>
            </a:r>
          </a:p>
          <a:p>
            <a:pPr marL="571500" indent="-571500">
              <a:lnSpc>
                <a:spcPct val="150000"/>
              </a:lnSpc>
              <a:buFont typeface="Arial" panose="020B0604020202020204" pitchFamily="34" charset="0"/>
              <a:buChar char="•"/>
            </a:pPr>
            <a:r>
              <a:rPr lang="en-US" sz="4000" dirty="0">
                <a:latin typeface="+mn-lt"/>
              </a:rPr>
              <a:t>RL is learning </a:t>
            </a:r>
          </a:p>
          <a:p>
            <a:pPr marL="1435100" indent="-717550">
              <a:lnSpc>
                <a:spcPct val="150000"/>
              </a:lnSpc>
              <a:buFont typeface="Arial" panose="020B0604020202020204" pitchFamily="34" charset="0"/>
              <a:buChar char="•"/>
            </a:pPr>
            <a:r>
              <a:rPr lang="en-US" sz="4000" dirty="0">
                <a:latin typeface="+mn-lt"/>
              </a:rPr>
              <a:t>what to do i.e. how to map situations to actions</a:t>
            </a:r>
          </a:p>
          <a:p>
            <a:pPr marL="1435100" indent="-717550">
              <a:lnSpc>
                <a:spcPct val="150000"/>
              </a:lnSpc>
              <a:buFont typeface="Arial" panose="020B0604020202020204" pitchFamily="34" charset="0"/>
              <a:buChar char="•"/>
            </a:pPr>
            <a:r>
              <a:rPr lang="en-US" sz="4000" dirty="0">
                <a:latin typeface="+mn-lt"/>
              </a:rPr>
              <a:t>To maximize a numerical reward signal.</a:t>
            </a:r>
          </a:p>
          <a:p>
            <a:pPr marL="571500" indent="-571500">
              <a:lnSpc>
                <a:spcPct val="150000"/>
              </a:lnSpc>
              <a:buFont typeface="Arial" panose="020B0604020202020204" pitchFamily="34" charset="0"/>
              <a:buChar char="•"/>
            </a:pPr>
            <a:r>
              <a:rPr lang="en-US" sz="4000" dirty="0">
                <a:latin typeface="+mn-lt"/>
              </a:rPr>
              <a:t>Two distinguishing features of RL</a:t>
            </a:r>
            <a:endParaRPr lang="en-US" sz="4000" dirty="0">
              <a:latin typeface="+mn-lt"/>
              <a:cs typeface="Century"/>
            </a:endParaRPr>
          </a:p>
          <a:p>
            <a:pPr marL="1435100" indent="-717550">
              <a:lnSpc>
                <a:spcPct val="150000"/>
              </a:lnSpc>
              <a:buFont typeface="Arial" panose="020B0604020202020204" pitchFamily="34" charset="0"/>
              <a:buChar char="•"/>
            </a:pPr>
            <a:r>
              <a:rPr lang="en-US" sz="4000" dirty="0">
                <a:latin typeface="+mn-lt"/>
              </a:rPr>
              <a:t>trial-and-error search</a:t>
            </a:r>
          </a:p>
          <a:p>
            <a:pPr marL="1435100" indent="-717550">
              <a:lnSpc>
                <a:spcPct val="150000"/>
              </a:lnSpc>
              <a:buFont typeface="Arial" panose="020B0604020202020204" pitchFamily="34" charset="0"/>
              <a:buChar char="•"/>
            </a:pPr>
            <a:r>
              <a:rPr lang="en-US" sz="4000" dirty="0">
                <a:latin typeface="+mn-lt"/>
              </a:rPr>
              <a:t>delayed reward</a:t>
            </a:r>
            <a:endParaRPr sz="4000" dirty="0">
              <a:latin typeface="+mn-lt"/>
              <a:cs typeface="Century"/>
            </a:endParaRPr>
          </a:p>
        </p:txBody>
      </p:sp>
      <p:sp>
        <p:nvSpPr>
          <p:cNvPr id="4" name="object 4">
            <a:extLst>
              <a:ext uri="{FF2B5EF4-FFF2-40B4-BE49-F238E27FC236}">
                <a16:creationId xmlns:a16="http://schemas.microsoft.com/office/drawing/2014/main" id="{2F9869C8-CDD1-FF99-B69E-49EA2BC4B3DE}"/>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DC1C1B77-8A13-92F4-9705-985A41DF36CA}"/>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D2832DA8-F2BC-3612-88EF-1885573CA118}"/>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0B0F7230-CA89-1CCE-0554-F02E8F83C91B}"/>
              </a:ext>
            </a:extLst>
          </p:cNvPr>
          <p:cNvSpPr txBox="1"/>
          <p:nvPr/>
        </p:nvSpPr>
        <p:spPr>
          <a:xfrm>
            <a:off x="693175" y="942975"/>
            <a:ext cx="8936600"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Reinforcement Learning</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955423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B9C02-D091-402D-3BB4-2D09F416055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E2C9125-6927-162D-DE4D-F548F665660B}"/>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3EB820BA-DD37-1919-2BA3-E2F548E6650D}"/>
              </a:ext>
            </a:extLst>
          </p:cNvPr>
          <p:cNvSpPr txBox="1"/>
          <p:nvPr/>
        </p:nvSpPr>
        <p:spPr>
          <a:xfrm>
            <a:off x="9617074" y="333678"/>
            <a:ext cx="29559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endParaRPr sz="2000" dirty="0">
              <a:latin typeface="Century"/>
              <a:cs typeface="Century"/>
            </a:endParaRPr>
          </a:p>
        </p:txBody>
      </p:sp>
      <p:sp>
        <p:nvSpPr>
          <p:cNvPr id="4" name="object 4">
            <a:extLst>
              <a:ext uri="{FF2B5EF4-FFF2-40B4-BE49-F238E27FC236}">
                <a16:creationId xmlns:a16="http://schemas.microsoft.com/office/drawing/2014/main" id="{B0B21EFB-2DE0-4CA6-2FC3-A60477D6A23E}"/>
              </a:ext>
            </a:extLst>
          </p:cNvPr>
          <p:cNvSpPr txBox="1"/>
          <p:nvPr/>
        </p:nvSpPr>
        <p:spPr>
          <a:xfrm>
            <a:off x="16100480" y="333863"/>
            <a:ext cx="1654120"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5" name="object 5">
            <a:extLst>
              <a:ext uri="{FF2B5EF4-FFF2-40B4-BE49-F238E27FC236}">
                <a16:creationId xmlns:a16="http://schemas.microsoft.com/office/drawing/2014/main" id="{F524A51C-8B53-0B9D-A4CF-A4FC222CB686}"/>
              </a:ext>
            </a:extLst>
          </p:cNvPr>
          <p:cNvSpPr txBox="1"/>
          <p:nvPr/>
        </p:nvSpPr>
        <p:spPr>
          <a:xfrm>
            <a:off x="9461610" y="7043811"/>
            <a:ext cx="7610475" cy="1018868"/>
          </a:xfrm>
          <a:prstGeom prst="rect">
            <a:avLst/>
          </a:prstGeom>
        </p:spPr>
        <p:txBody>
          <a:bodyPr vert="horz" wrap="square" lIns="0" tIns="107314" rIns="0" bIns="0" rtlCol="0">
            <a:spAutoFit/>
          </a:bodyPr>
          <a:lstStyle/>
          <a:p>
            <a:pPr marL="12700" marR="5080">
              <a:lnSpc>
                <a:spcPts val="7140"/>
              </a:lnSpc>
              <a:spcBef>
                <a:spcPts val="844"/>
              </a:spcBef>
            </a:pPr>
            <a:r>
              <a:rPr lang="en-US" sz="6500" b="1" spc="655" dirty="0">
                <a:latin typeface="+mn-lt"/>
                <a:cs typeface="Century Gothic"/>
              </a:rPr>
              <a:t>Elements of RL</a:t>
            </a:r>
            <a:endParaRPr sz="6500" b="1" dirty="0">
              <a:latin typeface="+mn-lt"/>
              <a:cs typeface="Century Gothic"/>
            </a:endParaRPr>
          </a:p>
        </p:txBody>
      </p:sp>
      <p:sp>
        <p:nvSpPr>
          <p:cNvPr id="6" name="object 6">
            <a:extLst>
              <a:ext uri="{FF2B5EF4-FFF2-40B4-BE49-F238E27FC236}">
                <a16:creationId xmlns:a16="http://schemas.microsoft.com/office/drawing/2014/main" id="{C37FDFE3-C543-8E97-25D7-B8F9C7145BDD}"/>
              </a:ext>
            </a:extLst>
          </p:cNvPr>
          <p:cNvSpPr txBox="1"/>
          <p:nvPr/>
        </p:nvSpPr>
        <p:spPr>
          <a:xfrm>
            <a:off x="899140" y="6778545"/>
            <a:ext cx="1562100" cy="1549400"/>
          </a:xfrm>
          <a:prstGeom prst="rect">
            <a:avLst/>
          </a:prstGeom>
        </p:spPr>
        <p:txBody>
          <a:bodyPr vert="horz" wrap="square" lIns="0" tIns="12700" rIns="0" bIns="0" rtlCol="0">
            <a:spAutoFit/>
          </a:bodyPr>
          <a:lstStyle/>
          <a:p>
            <a:pPr marL="12700">
              <a:lnSpc>
                <a:spcPct val="100000"/>
              </a:lnSpc>
              <a:spcBef>
                <a:spcPts val="100"/>
              </a:spcBef>
            </a:pPr>
            <a:r>
              <a:rPr sz="10000" spc="-620" dirty="0">
                <a:latin typeface="Century Gothic"/>
                <a:cs typeface="Century Gothic"/>
              </a:rPr>
              <a:t>0</a:t>
            </a:r>
            <a:r>
              <a:rPr lang="en-US" sz="10000" spc="-620" dirty="0">
                <a:latin typeface="Century Gothic"/>
                <a:cs typeface="Century Gothic"/>
              </a:rPr>
              <a:t>3</a:t>
            </a:r>
            <a:r>
              <a:rPr sz="10000" spc="-620" dirty="0">
                <a:latin typeface="Century Gothic"/>
                <a:cs typeface="Century Gothic"/>
              </a:rPr>
              <a:t>.</a:t>
            </a:r>
            <a:endParaRPr sz="10000" dirty="0">
              <a:latin typeface="Century Gothic"/>
              <a:cs typeface="Century Gothic"/>
            </a:endParaRPr>
          </a:p>
        </p:txBody>
      </p:sp>
      <p:sp>
        <p:nvSpPr>
          <p:cNvPr id="7" name="object 7">
            <a:extLst>
              <a:ext uri="{FF2B5EF4-FFF2-40B4-BE49-F238E27FC236}">
                <a16:creationId xmlns:a16="http://schemas.microsoft.com/office/drawing/2014/main" id="{FEFA4F72-48DD-16C4-9814-ACC88C19F367}"/>
              </a:ext>
            </a:extLst>
          </p:cNvPr>
          <p:cNvSpPr/>
          <p:nvPr/>
        </p:nvSpPr>
        <p:spPr>
          <a:xfrm>
            <a:off x="0" y="9353550"/>
            <a:ext cx="8678545" cy="269240"/>
          </a:xfrm>
          <a:custGeom>
            <a:avLst/>
            <a:gdLst/>
            <a:ahLst/>
            <a:cxnLst/>
            <a:rect l="l" t="t" r="r" b="b"/>
            <a:pathLst>
              <a:path w="8678545" h="269240">
                <a:moveTo>
                  <a:pt x="8678430" y="0"/>
                </a:moveTo>
                <a:lnTo>
                  <a:pt x="0" y="0"/>
                </a:lnTo>
                <a:lnTo>
                  <a:pt x="0" y="269163"/>
                </a:lnTo>
                <a:lnTo>
                  <a:pt x="8678430" y="269163"/>
                </a:lnTo>
                <a:lnTo>
                  <a:pt x="8678430" y="0"/>
                </a:lnTo>
                <a:close/>
              </a:path>
            </a:pathLst>
          </a:custGeom>
          <a:solidFill>
            <a:srgbClr val="000000"/>
          </a:solidFill>
        </p:spPr>
        <p:txBody>
          <a:bodyPr wrap="square" lIns="0" tIns="0" rIns="0" bIns="0" rtlCol="0"/>
          <a:lstStyle/>
          <a:p>
            <a:endParaRPr/>
          </a:p>
        </p:txBody>
      </p:sp>
      <p:sp>
        <p:nvSpPr>
          <p:cNvPr id="8" name="object 8">
            <a:extLst>
              <a:ext uri="{FF2B5EF4-FFF2-40B4-BE49-F238E27FC236}">
                <a16:creationId xmlns:a16="http://schemas.microsoft.com/office/drawing/2014/main" id="{08DEECE5-D353-D467-4E78-8528A02CC778}"/>
              </a:ext>
            </a:extLst>
          </p:cNvPr>
          <p:cNvSpPr/>
          <p:nvPr/>
        </p:nvSpPr>
        <p:spPr>
          <a:xfrm>
            <a:off x="14591118" y="9344025"/>
            <a:ext cx="2291080" cy="278765"/>
          </a:xfrm>
          <a:custGeom>
            <a:avLst/>
            <a:gdLst/>
            <a:ahLst/>
            <a:cxnLst/>
            <a:rect l="l" t="t" r="r" b="b"/>
            <a:pathLst>
              <a:path w="2291080" h="278765">
                <a:moveTo>
                  <a:pt x="2290762" y="0"/>
                </a:moveTo>
                <a:lnTo>
                  <a:pt x="0" y="0"/>
                </a:lnTo>
                <a:lnTo>
                  <a:pt x="0" y="278688"/>
                </a:lnTo>
                <a:lnTo>
                  <a:pt x="2290762" y="278688"/>
                </a:lnTo>
                <a:lnTo>
                  <a:pt x="2290762" y="0"/>
                </a:lnTo>
                <a:close/>
              </a:path>
            </a:pathLst>
          </a:custGeom>
          <a:solidFill>
            <a:srgbClr val="7491E8"/>
          </a:solidFill>
        </p:spPr>
        <p:txBody>
          <a:bodyPr wrap="square" lIns="0" tIns="0" rIns="0" bIns="0" rtlCol="0"/>
          <a:lstStyle/>
          <a:p>
            <a:endParaRPr/>
          </a:p>
        </p:txBody>
      </p:sp>
      <p:sp>
        <p:nvSpPr>
          <p:cNvPr id="9" name="object 9">
            <a:extLst>
              <a:ext uri="{FF2B5EF4-FFF2-40B4-BE49-F238E27FC236}">
                <a16:creationId xmlns:a16="http://schemas.microsoft.com/office/drawing/2014/main" id="{AE5C0AED-7E0C-8696-D65E-D1A2E52C0230}"/>
              </a:ext>
            </a:extLst>
          </p:cNvPr>
          <p:cNvSpPr/>
          <p:nvPr/>
        </p:nvSpPr>
        <p:spPr>
          <a:xfrm>
            <a:off x="9565881" y="9353550"/>
            <a:ext cx="4581525" cy="269240"/>
          </a:xfrm>
          <a:custGeom>
            <a:avLst/>
            <a:gdLst/>
            <a:ahLst/>
            <a:cxnLst/>
            <a:rect l="l" t="t" r="r" b="b"/>
            <a:pathLst>
              <a:path w="4581525" h="269240">
                <a:moveTo>
                  <a:pt x="4581525" y="0"/>
                </a:moveTo>
                <a:lnTo>
                  <a:pt x="0" y="0"/>
                </a:lnTo>
                <a:lnTo>
                  <a:pt x="0" y="269163"/>
                </a:lnTo>
                <a:lnTo>
                  <a:pt x="4581525" y="269163"/>
                </a:lnTo>
                <a:lnTo>
                  <a:pt x="4581525" y="0"/>
                </a:lnTo>
                <a:close/>
              </a:path>
            </a:pathLst>
          </a:custGeom>
          <a:solidFill>
            <a:srgbClr val="2B57D9"/>
          </a:solidFill>
        </p:spPr>
        <p:txBody>
          <a:bodyPr wrap="square" lIns="0" tIns="0" rIns="0" bIns="0" rtlCol="0"/>
          <a:lstStyle/>
          <a:p>
            <a:endParaRPr/>
          </a:p>
        </p:txBody>
      </p:sp>
      <p:sp>
        <p:nvSpPr>
          <p:cNvPr id="10" name="object 10">
            <a:extLst>
              <a:ext uri="{FF2B5EF4-FFF2-40B4-BE49-F238E27FC236}">
                <a16:creationId xmlns:a16="http://schemas.microsoft.com/office/drawing/2014/main" id="{DF2B38EF-FADD-87AB-6A4F-9121E481C4A4}"/>
              </a:ext>
            </a:extLst>
          </p:cNvPr>
          <p:cNvSpPr/>
          <p:nvPr/>
        </p:nvSpPr>
        <p:spPr>
          <a:xfrm>
            <a:off x="17103737" y="9344025"/>
            <a:ext cx="1184275" cy="278765"/>
          </a:xfrm>
          <a:custGeom>
            <a:avLst/>
            <a:gdLst/>
            <a:ahLst/>
            <a:cxnLst/>
            <a:rect l="l" t="t" r="r" b="b"/>
            <a:pathLst>
              <a:path w="1184275" h="278765">
                <a:moveTo>
                  <a:pt x="1184262" y="0"/>
                </a:moveTo>
                <a:lnTo>
                  <a:pt x="0" y="0"/>
                </a:lnTo>
                <a:lnTo>
                  <a:pt x="0" y="278688"/>
                </a:lnTo>
                <a:lnTo>
                  <a:pt x="1184262" y="278688"/>
                </a:lnTo>
                <a:lnTo>
                  <a:pt x="1184262" y="0"/>
                </a:lnTo>
                <a:close/>
              </a:path>
            </a:pathLst>
          </a:custGeom>
          <a:solidFill>
            <a:srgbClr val="A5CAF3"/>
          </a:solidFill>
        </p:spPr>
        <p:txBody>
          <a:bodyPr wrap="square" lIns="0" tIns="0" rIns="0" bIns="0" rtlCol="0"/>
          <a:lstStyle/>
          <a:p>
            <a:endParaRPr/>
          </a:p>
        </p:txBody>
      </p:sp>
    </p:spTree>
    <p:extLst>
      <p:ext uri="{BB962C8B-B14F-4D97-AF65-F5344CB8AC3E}">
        <p14:creationId xmlns:p14="http://schemas.microsoft.com/office/powerpoint/2010/main" val="3070369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6BE3D-EEE9-C3A2-C9F6-AE0093B9D6A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D46C75A-6BE8-C82E-10C9-2A19FEBAB6AD}"/>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76D6D100-43F7-F965-B511-380D7EE6FE33}"/>
              </a:ext>
            </a:extLst>
          </p:cNvPr>
          <p:cNvSpPr txBox="1"/>
          <p:nvPr/>
        </p:nvSpPr>
        <p:spPr>
          <a:xfrm>
            <a:off x="9617075" y="333678"/>
            <a:ext cx="29559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5DFB8370-D7D2-A93C-9472-26736746156B}"/>
              </a:ext>
            </a:extLst>
          </p:cNvPr>
          <p:cNvSpPr txBox="1"/>
          <p:nvPr/>
        </p:nvSpPr>
        <p:spPr>
          <a:xfrm>
            <a:off x="16100480" y="333863"/>
            <a:ext cx="1577920"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pic>
        <p:nvPicPr>
          <p:cNvPr id="2050" name="Picture 2" descr="AGENTS on Web: Unfolding Reinforcement Learning">
            <a:extLst>
              <a:ext uri="{FF2B5EF4-FFF2-40B4-BE49-F238E27FC236}">
                <a16:creationId xmlns:a16="http://schemas.microsoft.com/office/drawing/2014/main" id="{0F5B18C1-B09D-A4DD-397E-0E76EA5F72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3436" y="1203022"/>
            <a:ext cx="13021127" cy="766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5978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56E4D-63AB-BFF0-AA1B-7076C1AD1EC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23C56C1-C028-5EFF-2A67-860C9084EC16}"/>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EF5A68CE-9A44-7D9A-21B9-012861BEB827}"/>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27B1EC35-92A1-BC6D-1A18-A9B332AB1389}"/>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pic>
        <p:nvPicPr>
          <p:cNvPr id="1026" name="Picture 2">
            <a:extLst>
              <a:ext uri="{FF2B5EF4-FFF2-40B4-BE49-F238E27FC236}">
                <a16:creationId xmlns:a16="http://schemas.microsoft.com/office/drawing/2014/main" id="{12DB5226-F142-B514-1E63-464CB10884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4000" y="1405199"/>
            <a:ext cx="8640000" cy="747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831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DECF8-95EB-F7E9-F04F-29694772119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7F95B7C-74DD-2F88-7803-12B4E8AAD983}"/>
              </a:ext>
            </a:extLst>
          </p:cNvPr>
          <p:cNvSpPr txBox="1">
            <a:spLocks noGrp="1"/>
          </p:cNvSpPr>
          <p:nvPr>
            <p:ph type="body" idx="1"/>
          </p:nvPr>
        </p:nvSpPr>
        <p:spPr>
          <a:xfrm>
            <a:off x="762000" y="2444684"/>
            <a:ext cx="16764000" cy="3609450"/>
          </a:xfrm>
          <a:prstGeom prst="rect">
            <a:avLst/>
          </a:prstGeom>
        </p:spPr>
        <p:txBody>
          <a:bodyPr vert="horz" wrap="square" lIns="0" tIns="11430" rIns="0" bIns="0" rtlCol="0">
            <a:spAutoFit/>
          </a:bodyPr>
          <a:lstStyle/>
          <a:p>
            <a:pPr marL="571500" indent="-571500">
              <a:lnSpc>
                <a:spcPct val="150000"/>
              </a:lnSpc>
              <a:buFont typeface="Arial" panose="020B0604020202020204" pitchFamily="34" charset="0"/>
              <a:buChar char="•"/>
            </a:pPr>
            <a:r>
              <a:rPr lang="en-US" sz="4000" dirty="0">
                <a:latin typeface="+mn-lt"/>
              </a:rPr>
              <a:t>The environment is the world that the agent lives in and interacts with. </a:t>
            </a:r>
          </a:p>
          <a:p>
            <a:pPr marL="571500" indent="-571500">
              <a:lnSpc>
                <a:spcPct val="150000"/>
              </a:lnSpc>
              <a:buFont typeface="Arial" panose="020B0604020202020204" pitchFamily="34" charset="0"/>
              <a:buChar char="•"/>
            </a:pPr>
            <a:r>
              <a:rPr lang="en-US" sz="4000" dirty="0">
                <a:latin typeface="+mn-lt"/>
              </a:rPr>
              <a:t>At every step of interaction, the agent sees a (possibly partial) observation of the state of the world and then decides on an action to take. The environment changes when the agent acts on it but may also change on its own.</a:t>
            </a:r>
            <a:endParaRPr sz="4000" dirty="0">
              <a:latin typeface="+mn-lt"/>
              <a:cs typeface="Century"/>
            </a:endParaRPr>
          </a:p>
        </p:txBody>
      </p:sp>
      <p:sp>
        <p:nvSpPr>
          <p:cNvPr id="4" name="object 4">
            <a:extLst>
              <a:ext uri="{FF2B5EF4-FFF2-40B4-BE49-F238E27FC236}">
                <a16:creationId xmlns:a16="http://schemas.microsoft.com/office/drawing/2014/main" id="{E16C14BB-7BC4-E414-7E10-DAD7F0927E75}"/>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A80F3098-9068-9998-DED2-BA968C226B8C}"/>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7F6D6233-E497-B0F5-710A-7F123C00C092}"/>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48A847CB-E540-91A8-9822-447EFEFE6F7F}"/>
              </a:ext>
            </a:extLst>
          </p:cNvPr>
          <p:cNvSpPr txBox="1"/>
          <p:nvPr/>
        </p:nvSpPr>
        <p:spPr>
          <a:xfrm>
            <a:off x="693175" y="942975"/>
            <a:ext cx="8936600"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Agent and Environment</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2642339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45154-9DCD-1881-B692-092E3D4196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48C4D05-BB7D-5F16-7965-2B75B0FBC9A5}"/>
              </a:ext>
            </a:extLst>
          </p:cNvPr>
          <p:cNvSpPr txBox="1">
            <a:spLocks noGrp="1"/>
          </p:cNvSpPr>
          <p:nvPr>
            <p:ph type="body" idx="1"/>
          </p:nvPr>
        </p:nvSpPr>
        <p:spPr>
          <a:xfrm>
            <a:off x="762000" y="2444684"/>
            <a:ext cx="16764000" cy="6379439"/>
          </a:xfrm>
          <a:prstGeom prst="rect">
            <a:avLst/>
          </a:prstGeom>
        </p:spPr>
        <p:txBody>
          <a:bodyPr vert="horz" wrap="square" lIns="0" tIns="11430" rIns="0" bIns="0" rtlCol="0">
            <a:spAutoFit/>
          </a:bodyPr>
          <a:lstStyle/>
          <a:p>
            <a:pPr marL="571500" indent="-571500" algn="just">
              <a:lnSpc>
                <a:spcPct val="150000"/>
              </a:lnSpc>
              <a:buFont typeface="Arial" panose="020B0604020202020204" pitchFamily="34" charset="0"/>
              <a:buChar char="•"/>
            </a:pPr>
            <a:r>
              <a:rPr lang="en-US" sz="4000" dirty="0">
                <a:latin typeface="+mn-lt"/>
              </a:rPr>
              <a:t>A state is a complete description of the state of the world. There is no information about the world which is hidden from the state. An observation is a partial description of a state, which may omit information.</a:t>
            </a:r>
          </a:p>
          <a:p>
            <a:pPr marL="571500" indent="-571500" algn="just">
              <a:lnSpc>
                <a:spcPct val="150000"/>
              </a:lnSpc>
              <a:buFont typeface="Arial" panose="020B0604020202020204" pitchFamily="34" charset="0"/>
              <a:buChar char="•"/>
            </a:pPr>
            <a:r>
              <a:rPr lang="en-US" sz="4000" dirty="0">
                <a:latin typeface="+mn-lt"/>
              </a:rPr>
              <a:t>The state of a robot might be represented by its joint angles and velocities.</a:t>
            </a:r>
          </a:p>
          <a:p>
            <a:pPr marL="571500" indent="-571500" algn="just">
              <a:lnSpc>
                <a:spcPct val="150000"/>
              </a:lnSpc>
              <a:buFont typeface="Arial" panose="020B0604020202020204" pitchFamily="34" charset="0"/>
              <a:buChar char="•"/>
            </a:pPr>
            <a:r>
              <a:rPr lang="en-US" sz="4000" dirty="0">
                <a:latin typeface="+mn-lt"/>
              </a:rPr>
              <a:t>When the agent is able to observe the complete state of the environment, the environment is fully observed. When the agent can only see a partial observation, we say that the environment is partially observed.</a:t>
            </a:r>
          </a:p>
        </p:txBody>
      </p:sp>
      <p:sp>
        <p:nvSpPr>
          <p:cNvPr id="4" name="object 4">
            <a:extLst>
              <a:ext uri="{FF2B5EF4-FFF2-40B4-BE49-F238E27FC236}">
                <a16:creationId xmlns:a16="http://schemas.microsoft.com/office/drawing/2014/main" id="{EFE493EE-F82D-8E29-4AC3-9FB811E89A8D}"/>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91FB39D5-F80B-389E-E951-E09AD21E2ED5}"/>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D9486CED-216E-0453-1E19-10A9D1EA747B}"/>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BAA620E9-41EE-8AC6-2A76-9537FE11F0C1}"/>
              </a:ext>
            </a:extLst>
          </p:cNvPr>
          <p:cNvSpPr txBox="1"/>
          <p:nvPr/>
        </p:nvSpPr>
        <p:spPr>
          <a:xfrm>
            <a:off x="693175" y="942975"/>
            <a:ext cx="8936600"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States and Observations</a:t>
            </a:r>
          </a:p>
        </p:txBody>
      </p:sp>
    </p:spTree>
    <p:extLst>
      <p:ext uri="{BB962C8B-B14F-4D97-AF65-F5344CB8AC3E}">
        <p14:creationId xmlns:p14="http://schemas.microsoft.com/office/powerpoint/2010/main" val="1979564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BF314-DD90-5101-6153-72E27387E49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CCD4534-524E-0D08-D468-7295E1D03F77}"/>
              </a:ext>
            </a:extLst>
          </p:cNvPr>
          <p:cNvSpPr txBox="1">
            <a:spLocks noGrp="1"/>
          </p:cNvSpPr>
          <p:nvPr>
            <p:ph type="body" idx="1"/>
          </p:nvPr>
        </p:nvSpPr>
        <p:spPr>
          <a:xfrm>
            <a:off x="701380" y="2415445"/>
            <a:ext cx="16519819" cy="6379439"/>
          </a:xfrm>
          <a:prstGeom prst="rect">
            <a:avLst/>
          </a:prstGeom>
        </p:spPr>
        <p:txBody>
          <a:bodyPr vert="horz" wrap="square" lIns="0" tIns="11430" rIns="0" bIns="0" rtlCol="0">
            <a:spAutoFit/>
          </a:bodyPr>
          <a:lstStyle/>
          <a:p>
            <a:pPr marL="685800" indent="-685800" algn="just">
              <a:lnSpc>
                <a:spcPct val="150000"/>
              </a:lnSpc>
              <a:buFont typeface="Arial" panose="020B0604020202020204" pitchFamily="34" charset="0"/>
              <a:buChar char="•"/>
            </a:pPr>
            <a:r>
              <a:rPr lang="en-US" sz="4000" dirty="0">
                <a:latin typeface="+mn-lt"/>
              </a:rPr>
              <a:t>The state space is the set of all possible states that the environment can be in. </a:t>
            </a:r>
          </a:p>
          <a:p>
            <a:pPr marL="685800" indent="-685800" algn="just">
              <a:lnSpc>
                <a:spcPct val="150000"/>
              </a:lnSpc>
              <a:buFont typeface="Arial" panose="020B0604020202020204" pitchFamily="34" charset="0"/>
              <a:buChar char="•"/>
            </a:pPr>
            <a:r>
              <a:rPr lang="en-US" sz="4000" dirty="0">
                <a:latin typeface="+mn-lt"/>
              </a:rPr>
              <a:t>A state is a complete description of the situation in the environment at a particular point in time. </a:t>
            </a:r>
          </a:p>
          <a:p>
            <a:pPr marL="685800" indent="-685800" algn="just">
              <a:lnSpc>
                <a:spcPct val="150000"/>
              </a:lnSpc>
              <a:buFont typeface="Arial" panose="020B0604020202020204" pitchFamily="34" charset="0"/>
              <a:buChar char="•"/>
            </a:pPr>
            <a:r>
              <a:rPr lang="en-US" sz="4000" dirty="0">
                <a:latin typeface="+mn-lt"/>
              </a:rPr>
              <a:t>For a robot on a grid, if the grid is 3x3, each cell on the grid can be a possible position of the robot. The state space would include all possible positions the robot can occupy, i.e., 9.</a:t>
            </a:r>
            <a:endParaRPr sz="4000" dirty="0">
              <a:latin typeface="+mn-lt"/>
              <a:cs typeface="Century"/>
            </a:endParaRPr>
          </a:p>
        </p:txBody>
      </p:sp>
      <p:sp>
        <p:nvSpPr>
          <p:cNvPr id="4" name="object 4">
            <a:extLst>
              <a:ext uri="{FF2B5EF4-FFF2-40B4-BE49-F238E27FC236}">
                <a16:creationId xmlns:a16="http://schemas.microsoft.com/office/drawing/2014/main" id="{D20B253E-4442-8921-186B-51E955ADBF86}"/>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DBE97359-E04A-AFA7-61F8-B7F284803DEE}"/>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3B2E9FB1-C04A-2D16-7C64-4F0E46A0CE94}"/>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E99066A8-BE12-7085-B668-224707F55AFB}"/>
              </a:ext>
            </a:extLst>
          </p:cNvPr>
          <p:cNvSpPr txBox="1"/>
          <p:nvPr/>
        </p:nvSpPr>
        <p:spPr>
          <a:xfrm>
            <a:off x="693175" y="942975"/>
            <a:ext cx="8936600"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State Space</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1553179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ECBA5-DD09-95BA-6044-90439A7E730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72DF074-6A97-13F9-6616-F5A272427C74}"/>
              </a:ext>
            </a:extLst>
          </p:cNvPr>
          <p:cNvSpPr txBox="1">
            <a:spLocks noGrp="1"/>
          </p:cNvSpPr>
          <p:nvPr>
            <p:ph type="body" idx="1"/>
          </p:nvPr>
        </p:nvSpPr>
        <p:spPr>
          <a:xfrm>
            <a:off x="701380" y="2415445"/>
            <a:ext cx="16519819" cy="2686120"/>
          </a:xfrm>
          <a:prstGeom prst="rect">
            <a:avLst/>
          </a:prstGeom>
        </p:spPr>
        <p:txBody>
          <a:bodyPr vert="horz" wrap="square" lIns="0" tIns="11430" rIns="0" bIns="0" rtlCol="0">
            <a:spAutoFit/>
          </a:bodyPr>
          <a:lstStyle/>
          <a:p>
            <a:pPr marL="685800" indent="-685800" algn="just">
              <a:lnSpc>
                <a:spcPct val="150000"/>
              </a:lnSpc>
              <a:buFont typeface="Arial" panose="020B0604020202020204" pitchFamily="34" charset="0"/>
              <a:buChar char="•"/>
            </a:pPr>
            <a:r>
              <a:rPr lang="en-US" sz="4000" dirty="0">
                <a:latin typeface="+mn-lt"/>
                <a:cs typeface="Century"/>
              </a:rPr>
              <a:t>A reward Rt is a scalar feedback signal</a:t>
            </a:r>
          </a:p>
          <a:p>
            <a:pPr marL="685800" indent="-685800" algn="just">
              <a:lnSpc>
                <a:spcPct val="150000"/>
              </a:lnSpc>
              <a:buFont typeface="Arial" panose="020B0604020202020204" pitchFamily="34" charset="0"/>
              <a:buChar char="•"/>
            </a:pPr>
            <a:r>
              <a:rPr lang="en-US" sz="4000" dirty="0">
                <a:latin typeface="+mn-lt"/>
                <a:cs typeface="Century"/>
              </a:rPr>
              <a:t>Indicates how well agent is doing at step t</a:t>
            </a:r>
          </a:p>
          <a:p>
            <a:pPr marL="685800" indent="-685800" algn="just">
              <a:lnSpc>
                <a:spcPct val="150000"/>
              </a:lnSpc>
              <a:buFont typeface="Arial" panose="020B0604020202020204" pitchFamily="34" charset="0"/>
              <a:buChar char="•"/>
            </a:pPr>
            <a:r>
              <a:rPr lang="en-US" sz="4000" dirty="0">
                <a:latin typeface="+mn-lt"/>
                <a:cs typeface="Century"/>
              </a:rPr>
              <a:t>The agent's job is to </a:t>
            </a:r>
            <a:r>
              <a:rPr lang="en-US" sz="4000" dirty="0" err="1">
                <a:latin typeface="+mn-lt"/>
                <a:cs typeface="Century"/>
              </a:rPr>
              <a:t>maximise</a:t>
            </a:r>
            <a:r>
              <a:rPr lang="en-US" sz="4000" dirty="0">
                <a:latin typeface="+mn-lt"/>
                <a:cs typeface="Century"/>
              </a:rPr>
              <a:t> cumulative reward</a:t>
            </a:r>
            <a:endParaRPr sz="4000" dirty="0">
              <a:latin typeface="+mn-lt"/>
              <a:cs typeface="Century"/>
            </a:endParaRPr>
          </a:p>
        </p:txBody>
      </p:sp>
      <p:sp>
        <p:nvSpPr>
          <p:cNvPr id="4" name="object 4">
            <a:extLst>
              <a:ext uri="{FF2B5EF4-FFF2-40B4-BE49-F238E27FC236}">
                <a16:creationId xmlns:a16="http://schemas.microsoft.com/office/drawing/2014/main" id="{ADB86DBE-49CE-4B5C-91DA-9D443FBE3C05}"/>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DCAE8A77-744F-EEB8-BD80-4F6A22CC3DF5}"/>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A44D5807-D9E6-7A0C-3DC8-355F610C71A4}"/>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7FBDBFE8-9E53-95BB-D381-67D6754EFD4E}"/>
              </a:ext>
            </a:extLst>
          </p:cNvPr>
          <p:cNvSpPr txBox="1"/>
          <p:nvPr/>
        </p:nvSpPr>
        <p:spPr>
          <a:xfrm>
            <a:off x="693175" y="942975"/>
            <a:ext cx="8936600"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Reward</a:t>
            </a:r>
            <a:endParaRPr sz="4800" b="1" dirty="0">
              <a:ln>
                <a:solidFill>
                  <a:schemeClr val="tx1"/>
                </a:solidFill>
              </a:ln>
              <a:highlight>
                <a:srgbClr val="FFFF00"/>
              </a:highlight>
              <a:latin typeface="+mn-lt"/>
              <a:cs typeface="Century Gothic"/>
            </a:endParaRPr>
          </a:p>
        </p:txBody>
      </p:sp>
      <p:pic>
        <p:nvPicPr>
          <p:cNvPr id="9" name="Picture 8">
            <a:extLst>
              <a:ext uri="{FF2B5EF4-FFF2-40B4-BE49-F238E27FC236}">
                <a16:creationId xmlns:a16="http://schemas.microsoft.com/office/drawing/2014/main" id="{F6829B5C-FE88-8FCB-A6D3-92988DF68179}"/>
              </a:ext>
            </a:extLst>
          </p:cNvPr>
          <p:cNvPicPr>
            <a:picLocks noChangeAspect="1"/>
          </p:cNvPicPr>
          <p:nvPr/>
        </p:nvPicPr>
        <p:blipFill>
          <a:blip r:embed="rId2"/>
          <a:stretch>
            <a:fillRect/>
          </a:stretch>
        </p:blipFill>
        <p:spPr>
          <a:xfrm>
            <a:off x="3352800" y="2705100"/>
            <a:ext cx="533400" cy="581892"/>
          </a:xfrm>
          <a:prstGeom prst="rect">
            <a:avLst/>
          </a:prstGeom>
        </p:spPr>
      </p:pic>
    </p:spTree>
    <p:extLst>
      <p:ext uri="{BB962C8B-B14F-4D97-AF65-F5344CB8AC3E}">
        <p14:creationId xmlns:p14="http://schemas.microsoft.com/office/powerpoint/2010/main" val="2750916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809C4-B3AD-1726-F625-6517B470A10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AB3BF82-DB2E-68C1-0062-949C1615EDDC}"/>
              </a:ext>
            </a:extLst>
          </p:cNvPr>
          <p:cNvSpPr txBox="1">
            <a:spLocks noGrp="1"/>
          </p:cNvSpPr>
          <p:nvPr>
            <p:ph type="body" idx="1"/>
          </p:nvPr>
        </p:nvSpPr>
        <p:spPr>
          <a:xfrm>
            <a:off x="701380" y="2415445"/>
            <a:ext cx="16519819" cy="3609450"/>
          </a:xfrm>
          <a:prstGeom prst="rect">
            <a:avLst/>
          </a:prstGeom>
        </p:spPr>
        <p:txBody>
          <a:bodyPr vert="horz" wrap="square" lIns="0" tIns="11430" rIns="0" bIns="0" rtlCol="0">
            <a:spAutoFit/>
          </a:bodyPr>
          <a:lstStyle/>
          <a:p>
            <a:pPr marL="685800" indent="-685800" algn="just">
              <a:lnSpc>
                <a:spcPct val="150000"/>
              </a:lnSpc>
              <a:buFont typeface="Arial" panose="020B0604020202020204" pitchFamily="34" charset="0"/>
              <a:buChar char="•"/>
            </a:pPr>
            <a:r>
              <a:rPr lang="en-US" sz="4000" dirty="0">
                <a:latin typeface="+mn-lt"/>
              </a:rPr>
              <a:t>A policy is the agent's behavior.</a:t>
            </a:r>
          </a:p>
          <a:p>
            <a:pPr marL="685800" indent="-685800" algn="just">
              <a:lnSpc>
                <a:spcPct val="150000"/>
              </a:lnSpc>
              <a:buFont typeface="Arial" panose="020B0604020202020204" pitchFamily="34" charset="0"/>
              <a:buChar char="•"/>
            </a:pPr>
            <a:r>
              <a:rPr lang="en-US" sz="4000" dirty="0">
                <a:latin typeface="+mn-lt"/>
              </a:rPr>
              <a:t>It is a map from state to action, e.g.</a:t>
            </a:r>
          </a:p>
          <a:p>
            <a:pPr algn="just">
              <a:lnSpc>
                <a:spcPct val="150000"/>
              </a:lnSpc>
            </a:pPr>
            <a:r>
              <a:rPr lang="en-US" sz="4000" dirty="0">
                <a:latin typeface="+mn-lt"/>
              </a:rPr>
              <a:t>	Deterministic policy: </a:t>
            </a:r>
          </a:p>
          <a:p>
            <a:pPr algn="just">
              <a:lnSpc>
                <a:spcPct val="150000"/>
              </a:lnSpc>
            </a:pPr>
            <a:r>
              <a:rPr lang="en-US" sz="4000" dirty="0">
                <a:latin typeface="+mn-lt"/>
              </a:rPr>
              <a:t>	Stochastic policy:</a:t>
            </a:r>
            <a:endParaRPr sz="4000" dirty="0">
              <a:latin typeface="+mn-lt"/>
              <a:cs typeface="Century"/>
            </a:endParaRPr>
          </a:p>
        </p:txBody>
      </p:sp>
      <p:sp>
        <p:nvSpPr>
          <p:cNvPr id="4" name="object 4">
            <a:extLst>
              <a:ext uri="{FF2B5EF4-FFF2-40B4-BE49-F238E27FC236}">
                <a16:creationId xmlns:a16="http://schemas.microsoft.com/office/drawing/2014/main" id="{4E393116-DD67-7E2B-FA62-AC10A83245EF}"/>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6961B3C6-2E6C-5C6E-3467-83BE3F5CA7C5}"/>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6D169E38-8885-B13E-C5EC-80AEB3812E99}"/>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B3F87AED-0EB4-50B7-4C86-C5D81C192E0A}"/>
              </a:ext>
            </a:extLst>
          </p:cNvPr>
          <p:cNvSpPr txBox="1"/>
          <p:nvPr/>
        </p:nvSpPr>
        <p:spPr>
          <a:xfrm>
            <a:off x="693175" y="942975"/>
            <a:ext cx="8936600"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Policy</a:t>
            </a:r>
            <a:endParaRPr sz="4800" b="1" dirty="0">
              <a:ln>
                <a:solidFill>
                  <a:schemeClr val="tx1"/>
                </a:solidFill>
              </a:ln>
              <a:highlight>
                <a:srgbClr val="FFFF00"/>
              </a:highlight>
              <a:latin typeface="+mn-lt"/>
              <a:cs typeface="Century Gothic"/>
            </a:endParaRPr>
          </a:p>
        </p:txBody>
      </p:sp>
      <p:pic>
        <p:nvPicPr>
          <p:cNvPr id="8" name="Picture 7">
            <a:extLst>
              <a:ext uri="{FF2B5EF4-FFF2-40B4-BE49-F238E27FC236}">
                <a16:creationId xmlns:a16="http://schemas.microsoft.com/office/drawing/2014/main" id="{DE35B8B7-3519-1D00-FB4A-1494A456D563}"/>
              </a:ext>
            </a:extLst>
          </p:cNvPr>
          <p:cNvPicPr>
            <a:picLocks noChangeAspect="1"/>
          </p:cNvPicPr>
          <p:nvPr/>
        </p:nvPicPr>
        <p:blipFill>
          <a:blip r:embed="rId2"/>
          <a:stretch>
            <a:fillRect/>
          </a:stretch>
        </p:blipFill>
        <p:spPr>
          <a:xfrm>
            <a:off x="5962376" y="4474022"/>
            <a:ext cx="1962424" cy="647790"/>
          </a:xfrm>
          <a:prstGeom prst="rect">
            <a:avLst/>
          </a:prstGeom>
        </p:spPr>
      </p:pic>
      <p:pic>
        <p:nvPicPr>
          <p:cNvPr id="10" name="Picture 9">
            <a:extLst>
              <a:ext uri="{FF2B5EF4-FFF2-40B4-BE49-F238E27FC236}">
                <a16:creationId xmlns:a16="http://schemas.microsoft.com/office/drawing/2014/main" id="{69D50697-CE60-A5D3-1F8F-F7AF9866CE97}"/>
              </a:ext>
            </a:extLst>
          </p:cNvPr>
          <p:cNvPicPr>
            <a:picLocks noChangeAspect="1"/>
          </p:cNvPicPr>
          <p:nvPr/>
        </p:nvPicPr>
        <p:blipFill>
          <a:blip r:embed="rId3"/>
          <a:stretch>
            <a:fillRect/>
          </a:stretch>
        </p:blipFill>
        <p:spPr>
          <a:xfrm>
            <a:off x="5352266" y="5295900"/>
            <a:ext cx="5620534" cy="838317"/>
          </a:xfrm>
          <a:prstGeom prst="rect">
            <a:avLst/>
          </a:prstGeom>
        </p:spPr>
      </p:pic>
    </p:spTree>
    <p:extLst>
      <p:ext uri="{BB962C8B-B14F-4D97-AF65-F5344CB8AC3E}">
        <p14:creationId xmlns:p14="http://schemas.microsoft.com/office/powerpoint/2010/main" val="4028681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7394-A79E-CCFD-0BCB-F6C21D6D0A6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B412CB2-9D8D-6D58-8324-6BF6D9E6F578}"/>
              </a:ext>
            </a:extLst>
          </p:cNvPr>
          <p:cNvSpPr txBox="1">
            <a:spLocks noGrp="1"/>
          </p:cNvSpPr>
          <p:nvPr>
            <p:ph type="body" idx="1"/>
          </p:nvPr>
        </p:nvSpPr>
        <p:spPr>
          <a:xfrm>
            <a:off x="701380" y="2415445"/>
            <a:ext cx="16519819" cy="6379439"/>
          </a:xfrm>
          <a:prstGeom prst="rect">
            <a:avLst/>
          </a:prstGeom>
        </p:spPr>
        <p:txBody>
          <a:bodyPr vert="horz" wrap="square" lIns="0" tIns="11430" rIns="0" bIns="0" rtlCol="0">
            <a:spAutoFit/>
          </a:bodyPr>
          <a:lstStyle/>
          <a:p>
            <a:pPr marL="685800" indent="-685800" algn="just">
              <a:lnSpc>
                <a:spcPct val="150000"/>
              </a:lnSpc>
              <a:buFont typeface="Arial" panose="020B0604020202020204" pitchFamily="34" charset="0"/>
              <a:buChar char="•"/>
            </a:pPr>
            <a:r>
              <a:rPr lang="en-US" sz="4000" dirty="0">
                <a:latin typeface="+mn-lt"/>
              </a:rPr>
              <a:t>The action space defines all possible actions an agent can take within an environment.</a:t>
            </a:r>
          </a:p>
          <a:p>
            <a:pPr marL="685800" indent="-685800" algn="just">
              <a:lnSpc>
                <a:spcPct val="150000"/>
              </a:lnSpc>
              <a:buFont typeface="Arial" panose="020B0604020202020204" pitchFamily="34" charset="0"/>
              <a:buChar char="•"/>
            </a:pPr>
            <a:r>
              <a:rPr lang="en-US" sz="4000" dirty="0">
                <a:latin typeface="+mn-lt"/>
              </a:rPr>
              <a:t>The action space can be either discrete or continuous. </a:t>
            </a:r>
          </a:p>
          <a:p>
            <a:pPr marL="685800" indent="-685800" algn="just">
              <a:lnSpc>
                <a:spcPct val="150000"/>
              </a:lnSpc>
              <a:buFont typeface="Arial" panose="020B0604020202020204" pitchFamily="34" charset="0"/>
              <a:buChar char="•"/>
            </a:pPr>
            <a:r>
              <a:rPr lang="en-US" sz="4000" dirty="0">
                <a:latin typeface="+mn-lt"/>
              </a:rPr>
              <a:t>For example, in a game like chess, the action space is discrete—each move corresponds to a specific, countable option. In contrast, a self-driving car’s steering angle or acceleration might operate in a continuous action space, where actions are real-valued and infinite in possibility. </a:t>
            </a:r>
            <a:endParaRPr sz="4000" dirty="0">
              <a:latin typeface="+mn-lt"/>
              <a:cs typeface="Century"/>
            </a:endParaRPr>
          </a:p>
        </p:txBody>
      </p:sp>
      <p:sp>
        <p:nvSpPr>
          <p:cNvPr id="4" name="object 4">
            <a:extLst>
              <a:ext uri="{FF2B5EF4-FFF2-40B4-BE49-F238E27FC236}">
                <a16:creationId xmlns:a16="http://schemas.microsoft.com/office/drawing/2014/main" id="{1E1399DB-44C8-A368-3B55-748EBC94EA5C}"/>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19DD316F-A072-43C6-A970-710DBDE9FF0E}"/>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5211F77C-41B1-BFB2-A33D-FDB451586FF2}"/>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B1903712-9446-FE94-B0D1-F9E8DC857EB0}"/>
              </a:ext>
            </a:extLst>
          </p:cNvPr>
          <p:cNvSpPr txBox="1"/>
          <p:nvPr/>
        </p:nvSpPr>
        <p:spPr>
          <a:xfrm>
            <a:off x="693175" y="942975"/>
            <a:ext cx="8936600"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Action Space</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4047958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CAA1E-C669-2F3F-2890-9A21AE4A624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A8EF76A-874B-2854-06CE-B1F589BDB3E2}"/>
              </a:ext>
            </a:extLst>
          </p:cNvPr>
          <p:cNvSpPr txBox="1">
            <a:spLocks noGrp="1"/>
          </p:cNvSpPr>
          <p:nvPr>
            <p:ph type="body" idx="1"/>
          </p:nvPr>
        </p:nvSpPr>
        <p:spPr>
          <a:xfrm>
            <a:off x="701380" y="2415445"/>
            <a:ext cx="16519819" cy="2686120"/>
          </a:xfrm>
          <a:prstGeom prst="rect">
            <a:avLst/>
          </a:prstGeom>
        </p:spPr>
        <p:txBody>
          <a:bodyPr vert="horz" wrap="square" lIns="0" tIns="11430" rIns="0" bIns="0" rtlCol="0">
            <a:spAutoFit/>
          </a:bodyPr>
          <a:lstStyle/>
          <a:p>
            <a:pPr marL="685800" indent="-685800" algn="just">
              <a:lnSpc>
                <a:spcPct val="150000"/>
              </a:lnSpc>
              <a:buFont typeface="Arial" panose="020B0604020202020204" pitchFamily="34" charset="0"/>
              <a:buChar char="•"/>
            </a:pPr>
            <a:r>
              <a:rPr lang="en-US" sz="4000" dirty="0">
                <a:latin typeface="+mn-lt"/>
                <a:cs typeface="Century"/>
              </a:rPr>
              <a:t>Value function is a prediction of future reward.</a:t>
            </a:r>
          </a:p>
          <a:p>
            <a:pPr marL="685800" indent="-685800" algn="just">
              <a:lnSpc>
                <a:spcPct val="150000"/>
              </a:lnSpc>
              <a:buFont typeface="Arial" panose="020B0604020202020204" pitchFamily="34" charset="0"/>
              <a:buChar char="•"/>
            </a:pPr>
            <a:r>
              <a:rPr lang="en-US" sz="4000" dirty="0">
                <a:latin typeface="+mn-lt"/>
                <a:cs typeface="Century"/>
              </a:rPr>
              <a:t>Used to evaluate the goodness/badness of states.</a:t>
            </a:r>
          </a:p>
          <a:p>
            <a:pPr marL="685800" indent="-685800" algn="just">
              <a:lnSpc>
                <a:spcPct val="150000"/>
              </a:lnSpc>
              <a:buFont typeface="Arial" panose="020B0604020202020204" pitchFamily="34" charset="0"/>
              <a:buChar char="•"/>
            </a:pPr>
            <a:r>
              <a:rPr lang="en-US" sz="4000" dirty="0">
                <a:latin typeface="+mn-lt"/>
                <a:cs typeface="Century"/>
              </a:rPr>
              <a:t>And therefore, to select between actions, e.g.</a:t>
            </a:r>
            <a:endParaRPr sz="4000" dirty="0">
              <a:latin typeface="+mn-lt"/>
              <a:cs typeface="Century"/>
            </a:endParaRPr>
          </a:p>
        </p:txBody>
      </p:sp>
      <p:sp>
        <p:nvSpPr>
          <p:cNvPr id="4" name="object 4">
            <a:extLst>
              <a:ext uri="{FF2B5EF4-FFF2-40B4-BE49-F238E27FC236}">
                <a16:creationId xmlns:a16="http://schemas.microsoft.com/office/drawing/2014/main" id="{37F58AC3-7ED7-29BD-4A74-1703AE192742}"/>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8C4AA8A8-321B-8A3A-BDA8-01FEC942929F}"/>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315F722A-DD38-4031-AF98-2B37C9011AE1}"/>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22D4EF9D-F0DE-A998-3DD7-C70D04C3F57D}"/>
              </a:ext>
            </a:extLst>
          </p:cNvPr>
          <p:cNvSpPr txBox="1"/>
          <p:nvPr/>
        </p:nvSpPr>
        <p:spPr>
          <a:xfrm>
            <a:off x="693175" y="942975"/>
            <a:ext cx="8936600"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Value Function</a:t>
            </a:r>
            <a:endParaRPr sz="4800" b="1" dirty="0">
              <a:ln>
                <a:solidFill>
                  <a:schemeClr val="tx1"/>
                </a:solidFill>
              </a:ln>
              <a:highlight>
                <a:srgbClr val="FFFF00"/>
              </a:highlight>
              <a:latin typeface="+mn-lt"/>
              <a:cs typeface="Century Gothic"/>
            </a:endParaRPr>
          </a:p>
        </p:txBody>
      </p:sp>
      <p:pic>
        <p:nvPicPr>
          <p:cNvPr id="9" name="Picture 8">
            <a:extLst>
              <a:ext uri="{FF2B5EF4-FFF2-40B4-BE49-F238E27FC236}">
                <a16:creationId xmlns:a16="http://schemas.microsoft.com/office/drawing/2014/main" id="{3C79ED44-62B1-94B1-5212-49B9F54A7416}"/>
              </a:ext>
            </a:extLst>
          </p:cNvPr>
          <p:cNvPicPr>
            <a:picLocks noChangeAspect="1"/>
          </p:cNvPicPr>
          <p:nvPr/>
        </p:nvPicPr>
        <p:blipFill>
          <a:blip r:embed="rId2"/>
          <a:stretch>
            <a:fillRect/>
          </a:stretch>
        </p:blipFill>
        <p:spPr>
          <a:xfrm>
            <a:off x="3328971" y="5652551"/>
            <a:ext cx="10612331" cy="1276528"/>
          </a:xfrm>
          <a:prstGeom prst="rect">
            <a:avLst/>
          </a:prstGeom>
        </p:spPr>
      </p:pic>
    </p:spTree>
    <p:extLst>
      <p:ext uri="{BB962C8B-B14F-4D97-AF65-F5344CB8AC3E}">
        <p14:creationId xmlns:p14="http://schemas.microsoft.com/office/powerpoint/2010/main" val="505064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125A2-9A53-7732-75E8-997FB8ECB21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853C3CC-8549-2CD2-636B-D8FA9691E9B2}"/>
              </a:ext>
            </a:extLst>
          </p:cNvPr>
          <p:cNvSpPr txBox="1">
            <a:spLocks noGrp="1"/>
          </p:cNvSpPr>
          <p:nvPr>
            <p:ph type="body" idx="1"/>
          </p:nvPr>
        </p:nvSpPr>
        <p:spPr>
          <a:xfrm>
            <a:off x="701380" y="2415445"/>
            <a:ext cx="16519819" cy="2686120"/>
          </a:xfrm>
          <a:prstGeom prst="rect">
            <a:avLst/>
          </a:prstGeom>
        </p:spPr>
        <p:txBody>
          <a:bodyPr vert="horz" wrap="square" lIns="0" tIns="11430" rIns="0" bIns="0" rtlCol="0">
            <a:spAutoFit/>
          </a:bodyPr>
          <a:lstStyle/>
          <a:p>
            <a:pPr marL="685800" indent="-685800" algn="just">
              <a:lnSpc>
                <a:spcPct val="150000"/>
              </a:lnSpc>
              <a:buFont typeface="Arial" panose="020B0604020202020204" pitchFamily="34" charset="0"/>
              <a:buChar char="•"/>
            </a:pPr>
            <a:r>
              <a:rPr lang="en-US" sz="4000" dirty="0">
                <a:latin typeface="+mn-lt"/>
                <a:cs typeface="Century"/>
              </a:rPr>
              <a:t>A model predicts what the environment will do next</a:t>
            </a:r>
          </a:p>
          <a:p>
            <a:pPr marL="685800" indent="-685800" algn="just">
              <a:lnSpc>
                <a:spcPct val="150000"/>
              </a:lnSpc>
              <a:buFont typeface="Arial" panose="020B0604020202020204" pitchFamily="34" charset="0"/>
              <a:buChar char="•"/>
            </a:pPr>
            <a:r>
              <a:rPr lang="en-US" sz="4000" dirty="0">
                <a:latin typeface="+mn-lt"/>
                <a:cs typeface="Century"/>
              </a:rPr>
              <a:t>P predicts the next state</a:t>
            </a:r>
          </a:p>
          <a:p>
            <a:pPr marL="685800" indent="-685800" algn="just">
              <a:lnSpc>
                <a:spcPct val="150000"/>
              </a:lnSpc>
              <a:buFont typeface="Arial" panose="020B0604020202020204" pitchFamily="34" charset="0"/>
              <a:buChar char="•"/>
            </a:pPr>
            <a:r>
              <a:rPr lang="en-US" sz="4000" dirty="0">
                <a:latin typeface="+mn-lt"/>
                <a:cs typeface="Century"/>
              </a:rPr>
              <a:t>R predicts the next (immediate) reward, e.g.</a:t>
            </a:r>
            <a:endParaRPr sz="4000" dirty="0">
              <a:latin typeface="+mn-lt"/>
              <a:cs typeface="Century"/>
            </a:endParaRPr>
          </a:p>
        </p:txBody>
      </p:sp>
      <p:sp>
        <p:nvSpPr>
          <p:cNvPr id="4" name="object 4">
            <a:extLst>
              <a:ext uri="{FF2B5EF4-FFF2-40B4-BE49-F238E27FC236}">
                <a16:creationId xmlns:a16="http://schemas.microsoft.com/office/drawing/2014/main" id="{B4BD3DA2-161D-43CE-3BF5-2F8E01F29629}"/>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5E3F56D8-872B-046D-AB21-DCFE9CFDDD54}"/>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B25BF60C-84DD-9DFB-4A63-0F90FD9EB1CB}"/>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679622E7-C412-291B-2E56-5D09728FB3AF}"/>
              </a:ext>
            </a:extLst>
          </p:cNvPr>
          <p:cNvSpPr txBox="1"/>
          <p:nvPr/>
        </p:nvSpPr>
        <p:spPr>
          <a:xfrm>
            <a:off x="693175" y="942975"/>
            <a:ext cx="2126225" cy="953722"/>
          </a:xfrm>
          <a:prstGeom prst="rect">
            <a:avLst/>
          </a:prstGeom>
          <a:ln w="38100">
            <a:solidFill>
              <a:schemeClr val="tx1"/>
            </a:solidFill>
          </a:ln>
        </p:spPr>
        <p:txBody>
          <a:bodyPr vert="horz" wrap="square" lIns="0" tIns="107314" rIns="0" bIns="0" rtlCol="0">
            <a:spAutoFit/>
          </a:bodyPr>
          <a:lstStyle/>
          <a:p>
            <a:pPr marL="12700" marR="5080">
              <a:lnSpc>
                <a:spcPts val="7140"/>
              </a:lnSpc>
            </a:pPr>
            <a:r>
              <a:rPr lang="en-US" sz="4800" b="1" spc="655" dirty="0">
                <a:ln>
                  <a:solidFill>
                    <a:schemeClr val="tx1"/>
                  </a:solidFill>
                </a:ln>
                <a:highlight>
                  <a:srgbClr val="FFFF00"/>
                </a:highlight>
                <a:latin typeface="+mn-lt"/>
                <a:cs typeface="Century Gothic"/>
              </a:rPr>
              <a:t>Model</a:t>
            </a:r>
            <a:endParaRPr sz="4800" b="1" dirty="0">
              <a:ln>
                <a:solidFill>
                  <a:schemeClr val="tx1"/>
                </a:solidFill>
              </a:ln>
              <a:highlight>
                <a:srgbClr val="FFFF00"/>
              </a:highlight>
              <a:latin typeface="+mn-lt"/>
              <a:cs typeface="Century Gothic"/>
            </a:endParaRPr>
          </a:p>
        </p:txBody>
      </p:sp>
      <p:pic>
        <p:nvPicPr>
          <p:cNvPr id="8" name="Picture 7">
            <a:extLst>
              <a:ext uri="{FF2B5EF4-FFF2-40B4-BE49-F238E27FC236}">
                <a16:creationId xmlns:a16="http://schemas.microsoft.com/office/drawing/2014/main" id="{0B2E126A-06E1-50D8-42BE-63D034382DF4}"/>
              </a:ext>
            </a:extLst>
          </p:cNvPr>
          <p:cNvPicPr>
            <a:picLocks noChangeAspect="1"/>
          </p:cNvPicPr>
          <p:nvPr/>
        </p:nvPicPr>
        <p:blipFill>
          <a:blip r:embed="rId2"/>
          <a:stretch>
            <a:fillRect/>
          </a:stretch>
        </p:blipFill>
        <p:spPr>
          <a:xfrm>
            <a:off x="4945941" y="5909131"/>
            <a:ext cx="8030696" cy="1962424"/>
          </a:xfrm>
          <a:prstGeom prst="rect">
            <a:avLst/>
          </a:prstGeom>
        </p:spPr>
      </p:pic>
    </p:spTree>
    <p:extLst>
      <p:ext uri="{BB962C8B-B14F-4D97-AF65-F5344CB8AC3E}">
        <p14:creationId xmlns:p14="http://schemas.microsoft.com/office/powerpoint/2010/main" val="2389939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596C-296F-60CE-C905-AFD407B9991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E455324-44CE-71FA-8FB8-9A61550FD7E8}"/>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1338F6CA-BD6F-7A0B-E125-EF5C1CA3B30D}"/>
              </a:ext>
            </a:extLst>
          </p:cNvPr>
          <p:cNvSpPr txBox="1"/>
          <p:nvPr/>
        </p:nvSpPr>
        <p:spPr>
          <a:xfrm>
            <a:off x="9617074" y="333678"/>
            <a:ext cx="29559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endParaRPr sz="2000" dirty="0">
              <a:latin typeface="Century"/>
              <a:cs typeface="Century"/>
            </a:endParaRPr>
          </a:p>
        </p:txBody>
      </p:sp>
      <p:sp>
        <p:nvSpPr>
          <p:cNvPr id="4" name="object 4">
            <a:extLst>
              <a:ext uri="{FF2B5EF4-FFF2-40B4-BE49-F238E27FC236}">
                <a16:creationId xmlns:a16="http://schemas.microsoft.com/office/drawing/2014/main" id="{74F18033-7A05-C859-1738-DF8AB299D78F}"/>
              </a:ext>
            </a:extLst>
          </p:cNvPr>
          <p:cNvSpPr txBox="1"/>
          <p:nvPr/>
        </p:nvSpPr>
        <p:spPr>
          <a:xfrm>
            <a:off x="16100480" y="333863"/>
            <a:ext cx="1654120"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5" name="object 5">
            <a:extLst>
              <a:ext uri="{FF2B5EF4-FFF2-40B4-BE49-F238E27FC236}">
                <a16:creationId xmlns:a16="http://schemas.microsoft.com/office/drawing/2014/main" id="{DB8F5C6F-06BD-1456-7E31-F98CEE16043E}"/>
              </a:ext>
            </a:extLst>
          </p:cNvPr>
          <p:cNvSpPr txBox="1"/>
          <p:nvPr/>
        </p:nvSpPr>
        <p:spPr>
          <a:xfrm>
            <a:off x="9759628" y="7043811"/>
            <a:ext cx="7610475" cy="1034962"/>
          </a:xfrm>
          <a:prstGeom prst="rect">
            <a:avLst/>
          </a:prstGeom>
        </p:spPr>
        <p:txBody>
          <a:bodyPr vert="horz" wrap="square" lIns="0" tIns="107314" rIns="0" bIns="0" rtlCol="0">
            <a:spAutoFit/>
          </a:bodyPr>
          <a:lstStyle/>
          <a:p>
            <a:pPr marL="12700" marR="5080">
              <a:lnSpc>
                <a:spcPts val="7140"/>
              </a:lnSpc>
              <a:spcBef>
                <a:spcPts val="844"/>
              </a:spcBef>
            </a:pPr>
            <a:r>
              <a:rPr lang="en-US" sz="7200" b="1" spc="655" dirty="0">
                <a:latin typeface="+mn-lt"/>
                <a:cs typeface="Century Gothic"/>
              </a:rPr>
              <a:t>Examples</a:t>
            </a:r>
          </a:p>
        </p:txBody>
      </p:sp>
      <p:sp>
        <p:nvSpPr>
          <p:cNvPr id="6" name="object 6">
            <a:extLst>
              <a:ext uri="{FF2B5EF4-FFF2-40B4-BE49-F238E27FC236}">
                <a16:creationId xmlns:a16="http://schemas.microsoft.com/office/drawing/2014/main" id="{CACF46AF-0BE4-D069-6063-00E045D10331}"/>
              </a:ext>
            </a:extLst>
          </p:cNvPr>
          <p:cNvSpPr txBox="1"/>
          <p:nvPr/>
        </p:nvSpPr>
        <p:spPr>
          <a:xfrm>
            <a:off x="899140" y="6778545"/>
            <a:ext cx="1562100" cy="1549400"/>
          </a:xfrm>
          <a:prstGeom prst="rect">
            <a:avLst/>
          </a:prstGeom>
        </p:spPr>
        <p:txBody>
          <a:bodyPr vert="horz" wrap="square" lIns="0" tIns="12700" rIns="0" bIns="0" rtlCol="0">
            <a:spAutoFit/>
          </a:bodyPr>
          <a:lstStyle/>
          <a:p>
            <a:pPr marL="12700">
              <a:lnSpc>
                <a:spcPct val="100000"/>
              </a:lnSpc>
              <a:spcBef>
                <a:spcPts val="100"/>
              </a:spcBef>
            </a:pPr>
            <a:r>
              <a:rPr sz="10000" spc="-620" dirty="0">
                <a:latin typeface="Century Gothic"/>
                <a:cs typeface="Century Gothic"/>
              </a:rPr>
              <a:t>0</a:t>
            </a:r>
            <a:r>
              <a:rPr lang="en-US" sz="10000" spc="-620" dirty="0">
                <a:latin typeface="Century Gothic"/>
                <a:cs typeface="Century Gothic"/>
              </a:rPr>
              <a:t>4</a:t>
            </a:r>
            <a:r>
              <a:rPr sz="10000" spc="-620" dirty="0">
                <a:latin typeface="Century Gothic"/>
                <a:cs typeface="Century Gothic"/>
              </a:rPr>
              <a:t>.</a:t>
            </a:r>
            <a:endParaRPr sz="10000" dirty="0">
              <a:latin typeface="Century Gothic"/>
              <a:cs typeface="Century Gothic"/>
            </a:endParaRPr>
          </a:p>
        </p:txBody>
      </p:sp>
      <p:sp>
        <p:nvSpPr>
          <p:cNvPr id="7" name="object 7">
            <a:extLst>
              <a:ext uri="{FF2B5EF4-FFF2-40B4-BE49-F238E27FC236}">
                <a16:creationId xmlns:a16="http://schemas.microsoft.com/office/drawing/2014/main" id="{AAFD0F12-0EBC-E040-FBD1-EC562447C6E8}"/>
              </a:ext>
            </a:extLst>
          </p:cNvPr>
          <p:cNvSpPr/>
          <p:nvPr/>
        </p:nvSpPr>
        <p:spPr>
          <a:xfrm>
            <a:off x="0" y="9353550"/>
            <a:ext cx="8678545" cy="269240"/>
          </a:xfrm>
          <a:custGeom>
            <a:avLst/>
            <a:gdLst/>
            <a:ahLst/>
            <a:cxnLst/>
            <a:rect l="l" t="t" r="r" b="b"/>
            <a:pathLst>
              <a:path w="8678545" h="269240">
                <a:moveTo>
                  <a:pt x="8678430" y="0"/>
                </a:moveTo>
                <a:lnTo>
                  <a:pt x="0" y="0"/>
                </a:lnTo>
                <a:lnTo>
                  <a:pt x="0" y="269163"/>
                </a:lnTo>
                <a:lnTo>
                  <a:pt x="8678430" y="269163"/>
                </a:lnTo>
                <a:lnTo>
                  <a:pt x="8678430" y="0"/>
                </a:lnTo>
                <a:close/>
              </a:path>
            </a:pathLst>
          </a:custGeom>
          <a:solidFill>
            <a:srgbClr val="000000"/>
          </a:solidFill>
        </p:spPr>
        <p:txBody>
          <a:bodyPr wrap="square" lIns="0" tIns="0" rIns="0" bIns="0" rtlCol="0"/>
          <a:lstStyle/>
          <a:p>
            <a:endParaRPr/>
          </a:p>
        </p:txBody>
      </p:sp>
      <p:sp>
        <p:nvSpPr>
          <p:cNvPr id="8" name="object 8">
            <a:extLst>
              <a:ext uri="{FF2B5EF4-FFF2-40B4-BE49-F238E27FC236}">
                <a16:creationId xmlns:a16="http://schemas.microsoft.com/office/drawing/2014/main" id="{F8C9057D-97BE-D6F6-BD65-843BA450FA14}"/>
              </a:ext>
            </a:extLst>
          </p:cNvPr>
          <p:cNvSpPr/>
          <p:nvPr/>
        </p:nvSpPr>
        <p:spPr>
          <a:xfrm>
            <a:off x="14591118" y="9344025"/>
            <a:ext cx="2291080" cy="278765"/>
          </a:xfrm>
          <a:custGeom>
            <a:avLst/>
            <a:gdLst/>
            <a:ahLst/>
            <a:cxnLst/>
            <a:rect l="l" t="t" r="r" b="b"/>
            <a:pathLst>
              <a:path w="2291080" h="278765">
                <a:moveTo>
                  <a:pt x="2290762" y="0"/>
                </a:moveTo>
                <a:lnTo>
                  <a:pt x="0" y="0"/>
                </a:lnTo>
                <a:lnTo>
                  <a:pt x="0" y="278688"/>
                </a:lnTo>
                <a:lnTo>
                  <a:pt x="2290762" y="278688"/>
                </a:lnTo>
                <a:lnTo>
                  <a:pt x="2290762" y="0"/>
                </a:lnTo>
                <a:close/>
              </a:path>
            </a:pathLst>
          </a:custGeom>
          <a:solidFill>
            <a:srgbClr val="7491E8"/>
          </a:solidFill>
        </p:spPr>
        <p:txBody>
          <a:bodyPr wrap="square" lIns="0" tIns="0" rIns="0" bIns="0" rtlCol="0"/>
          <a:lstStyle/>
          <a:p>
            <a:endParaRPr/>
          </a:p>
        </p:txBody>
      </p:sp>
      <p:sp>
        <p:nvSpPr>
          <p:cNvPr id="9" name="object 9">
            <a:extLst>
              <a:ext uri="{FF2B5EF4-FFF2-40B4-BE49-F238E27FC236}">
                <a16:creationId xmlns:a16="http://schemas.microsoft.com/office/drawing/2014/main" id="{F1AECE88-28DF-9D0C-4BF2-D4E9E97C26BE}"/>
              </a:ext>
            </a:extLst>
          </p:cNvPr>
          <p:cNvSpPr/>
          <p:nvPr/>
        </p:nvSpPr>
        <p:spPr>
          <a:xfrm>
            <a:off x="9565881" y="9353550"/>
            <a:ext cx="4581525" cy="269240"/>
          </a:xfrm>
          <a:custGeom>
            <a:avLst/>
            <a:gdLst/>
            <a:ahLst/>
            <a:cxnLst/>
            <a:rect l="l" t="t" r="r" b="b"/>
            <a:pathLst>
              <a:path w="4581525" h="269240">
                <a:moveTo>
                  <a:pt x="4581525" y="0"/>
                </a:moveTo>
                <a:lnTo>
                  <a:pt x="0" y="0"/>
                </a:lnTo>
                <a:lnTo>
                  <a:pt x="0" y="269163"/>
                </a:lnTo>
                <a:lnTo>
                  <a:pt x="4581525" y="269163"/>
                </a:lnTo>
                <a:lnTo>
                  <a:pt x="4581525" y="0"/>
                </a:lnTo>
                <a:close/>
              </a:path>
            </a:pathLst>
          </a:custGeom>
          <a:solidFill>
            <a:srgbClr val="2B57D9"/>
          </a:solidFill>
        </p:spPr>
        <p:txBody>
          <a:bodyPr wrap="square" lIns="0" tIns="0" rIns="0" bIns="0" rtlCol="0"/>
          <a:lstStyle/>
          <a:p>
            <a:endParaRPr/>
          </a:p>
        </p:txBody>
      </p:sp>
      <p:sp>
        <p:nvSpPr>
          <p:cNvPr id="10" name="object 10">
            <a:extLst>
              <a:ext uri="{FF2B5EF4-FFF2-40B4-BE49-F238E27FC236}">
                <a16:creationId xmlns:a16="http://schemas.microsoft.com/office/drawing/2014/main" id="{376AFB8B-63D7-8063-63C0-168BB8ACD766}"/>
              </a:ext>
            </a:extLst>
          </p:cNvPr>
          <p:cNvSpPr/>
          <p:nvPr/>
        </p:nvSpPr>
        <p:spPr>
          <a:xfrm>
            <a:off x="17103737" y="9344025"/>
            <a:ext cx="1184275" cy="278765"/>
          </a:xfrm>
          <a:custGeom>
            <a:avLst/>
            <a:gdLst/>
            <a:ahLst/>
            <a:cxnLst/>
            <a:rect l="l" t="t" r="r" b="b"/>
            <a:pathLst>
              <a:path w="1184275" h="278765">
                <a:moveTo>
                  <a:pt x="1184262" y="0"/>
                </a:moveTo>
                <a:lnTo>
                  <a:pt x="0" y="0"/>
                </a:lnTo>
                <a:lnTo>
                  <a:pt x="0" y="278688"/>
                </a:lnTo>
                <a:lnTo>
                  <a:pt x="1184262" y="278688"/>
                </a:lnTo>
                <a:lnTo>
                  <a:pt x="1184262" y="0"/>
                </a:lnTo>
                <a:close/>
              </a:path>
            </a:pathLst>
          </a:custGeom>
          <a:solidFill>
            <a:srgbClr val="A5CAF3"/>
          </a:solidFill>
        </p:spPr>
        <p:txBody>
          <a:bodyPr wrap="square" lIns="0" tIns="0" rIns="0" bIns="0" rtlCol="0"/>
          <a:lstStyle/>
          <a:p>
            <a:endParaRPr/>
          </a:p>
        </p:txBody>
      </p:sp>
    </p:spTree>
    <p:extLst>
      <p:ext uri="{BB962C8B-B14F-4D97-AF65-F5344CB8AC3E}">
        <p14:creationId xmlns:p14="http://schemas.microsoft.com/office/powerpoint/2010/main" val="2295442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29D2F-976A-2AF5-3882-211C4B18531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EC9DC5E-6BBD-5409-6BA1-366F334076E9}"/>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74CFA593-FAF8-F4E7-62C4-6121AF90F440}"/>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F0F021B3-2AA5-60B5-3621-644D04E28C92}"/>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pic>
        <p:nvPicPr>
          <p:cNvPr id="3" name="Picture 2">
            <a:extLst>
              <a:ext uri="{FF2B5EF4-FFF2-40B4-BE49-F238E27FC236}">
                <a16:creationId xmlns:a16="http://schemas.microsoft.com/office/drawing/2014/main" id="{88B6FD69-DF2D-4BBA-329C-2B02813A6043}"/>
              </a:ext>
            </a:extLst>
          </p:cNvPr>
          <p:cNvPicPr>
            <a:picLocks noChangeAspect="1"/>
          </p:cNvPicPr>
          <p:nvPr/>
        </p:nvPicPr>
        <p:blipFill>
          <a:blip r:embed="rId2"/>
          <a:stretch>
            <a:fillRect/>
          </a:stretch>
        </p:blipFill>
        <p:spPr>
          <a:xfrm>
            <a:off x="3888000" y="1866900"/>
            <a:ext cx="10512000" cy="7463781"/>
          </a:xfrm>
          <a:prstGeom prst="rect">
            <a:avLst/>
          </a:prstGeom>
        </p:spPr>
      </p:pic>
      <p:sp>
        <p:nvSpPr>
          <p:cNvPr id="7" name="TextBox 6">
            <a:extLst>
              <a:ext uri="{FF2B5EF4-FFF2-40B4-BE49-F238E27FC236}">
                <a16:creationId xmlns:a16="http://schemas.microsoft.com/office/drawing/2014/main" id="{19846DEC-DF03-0171-55AC-644338189996}"/>
              </a:ext>
            </a:extLst>
          </p:cNvPr>
          <p:cNvSpPr txBox="1"/>
          <p:nvPr/>
        </p:nvSpPr>
        <p:spPr>
          <a:xfrm>
            <a:off x="14554200" y="8267700"/>
            <a:ext cx="3581400" cy="369332"/>
          </a:xfrm>
          <a:prstGeom prst="rect">
            <a:avLst/>
          </a:prstGeom>
          <a:noFill/>
        </p:spPr>
        <p:txBody>
          <a:bodyPr wrap="square">
            <a:spAutoFit/>
          </a:bodyPr>
          <a:lstStyle/>
          <a:p>
            <a:r>
              <a:rPr lang="en-US" b="1" u="sng" dirty="0">
                <a:effectLst>
                  <a:outerShdw blurRad="38100" dist="38100" dir="2700000" algn="tl">
                    <a:srgbClr val="000000">
                      <a:alpha val="43137"/>
                    </a:srgbClr>
                  </a:outerShdw>
                </a:effectLst>
              </a:rPr>
              <a:t>https://gymnasium.farama.org/</a:t>
            </a:r>
            <a:endParaRPr lang="en-PK" b="1" u="sng" dirty="0">
              <a:effectLst>
                <a:outerShdw blurRad="38100" dist="38100" dir="2700000" algn="tl">
                  <a:srgbClr val="000000">
                    <a:alpha val="43137"/>
                  </a:srgbClr>
                </a:outerShdw>
              </a:effectLst>
            </a:endParaRPr>
          </a:p>
        </p:txBody>
      </p:sp>
      <p:sp>
        <p:nvSpPr>
          <p:cNvPr id="2" name="object 5">
            <a:extLst>
              <a:ext uri="{FF2B5EF4-FFF2-40B4-BE49-F238E27FC236}">
                <a16:creationId xmlns:a16="http://schemas.microsoft.com/office/drawing/2014/main" id="{5D38FE28-6A96-53D2-5D6B-583E6D1D0484}"/>
              </a:ext>
            </a:extLst>
          </p:cNvPr>
          <p:cNvSpPr txBox="1"/>
          <p:nvPr/>
        </p:nvSpPr>
        <p:spPr>
          <a:xfrm>
            <a:off x="693175" y="942975"/>
            <a:ext cx="5707625"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Gymnasium Env.</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3468990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40385-149B-0BC2-E864-AD686BCD3C9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5CDC0C-E03F-F735-64C3-C03E6B125E7E}"/>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D0F47AE9-E8A7-9425-9B58-8FC78785850B}"/>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CF64A501-E9FC-4AE4-2F01-3F250B63EF5F}"/>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pic>
        <p:nvPicPr>
          <p:cNvPr id="7" name="Picture 6">
            <a:extLst>
              <a:ext uri="{FF2B5EF4-FFF2-40B4-BE49-F238E27FC236}">
                <a16:creationId xmlns:a16="http://schemas.microsoft.com/office/drawing/2014/main" id="{6E959ADB-BBE4-4413-1926-09D1C41D4D55}"/>
              </a:ext>
            </a:extLst>
          </p:cNvPr>
          <p:cNvPicPr>
            <a:picLocks noChangeAspect="1"/>
          </p:cNvPicPr>
          <p:nvPr/>
        </p:nvPicPr>
        <p:blipFill>
          <a:blip r:embed="rId4"/>
          <a:stretch>
            <a:fillRect/>
          </a:stretch>
        </p:blipFill>
        <p:spPr>
          <a:xfrm>
            <a:off x="2945979" y="1831500"/>
            <a:ext cx="13342191" cy="6624000"/>
          </a:xfrm>
          <a:prstGeom prst="rect">
            <a:avLst/>
          </a:prstGeom>
        </p:spPr>
      </p:pic>
      <p:pic>
        <p:nvPicPr>
          <p:cNvPr id="8" name="20260204-0503-32.5536489">
            <a:hlinkClick r:id="" action="ppaction://media"/>
            <a:extLst>
              <a:ext uri="{FF2B5EF4-FFF2-40B4-BE49-F238E27FC236}">
                <a16:creationId xmlns:a16="http://schemas.microsoft.com/office/drawing/2014/main" id="{6F08C6A1-2157-5726-46B6-2C6E792C259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783022" y="2857500"/>
            <a:ext cx="3668104" cy="2088000"/>
          </a:xfrm>
          <a:prstGeom prst="rect">
            <a:avLst/>
          </a:prstGeom>
        </p:spPr>
      </p:pic>
      <p:sp>
        <p:nvSpPr>
          <p:cNvPr id="2" name="object 5">
            <a:extLst>
              <a:ext uri="{FF2B5EF4-FFF2-40B4-BE49-F238E27FC236}">
                <a16:creationId xmlns:a16="http://schemas.microsoft.com/office/drawing/2014/main" id="{E742D6FD-7AA9-4839-F164-DA715C05F19A}"/>
              </a:ext>
            </a:extLst>
          </p:cNvPr>
          <p:cNvSpPr txBox="1"/>
          <p:nvPr/>
        </p:nvSpPr>
        <p:spPr>
          <a:xfrm>
            <a:off x="693175" y="942975"/>
            <a:ext cx="5707625"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Gymnasium Env.</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3650466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03"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40385-149B-0BC2-E864-AD686BCD3C9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5CDC0C-E03F-F735-64C3-C03E6B125E7E}"/>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D0F47AE9-E8A7-9425-9B58-8FC78785850B}"/>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CF64A501-E9FC-4AE4-2F01-3F250B63EF5F}"/>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pic>
        <p:nvPicPr>
          <p:cNvPr id="3" name="Picture 2">
            <a:extLst>
              <a:ext uri="{FF2B5EF4-FFF2-40B4-BE49-F238E27FC236}">
                <a16:creationId xmlns:a16="http://schemas.microsoft.com/office/drawing/2014/main" id="{3EB0888D-4CE3-68C3-3A02-8A36785CB46B}"/>
              </a:ext>
            </a:extLst>
          </p:cNvPr>
          <p:cNvPicPr>
            <a:picLocks noChangeAspect="1"/>
          </p:cNvPicPr>
          <p:nvPr/>
        </p:nvPicPr>
        <p:blipFill>
          <a:blip r:embed="rId2"/>
          <a:stretch>
            <a:fillRect/>
          </a:stretch>
        </p:blipFill>
        <p:spPr>
          <a:xfrm>
            <a:off x="4353912" y="2083500"/>
            <a:ext cx="10551726" cy="6120000"/>
          </a:xfrm>
          <a:prstGeom prst="rect">
            <a:avLst/>
          </a:prstGeom>
        </p:spPr>
      </p:pic>
      <p:sp>
        <p:nvSpPr>
          <p:cNvPr id="2" name="object 5">
            <a:extLst>
              <a:ext uri="{FF2B5EF4-FFF2-40B4-BE49-F238E27FC236}">
                <a16:creationId xmlns:a16="http://schemas.microsoft.com/office/drawing/2014/main" id="{27CCCD12-350D-F626-B497-2AC722AB8EF3}"/>
              </a:ext>
            </a:extLst>
          </p:cNvPr>
          <p:cNvSpPr txBox="1"/>
          <p:nvPr/>
        </p:nvSpPr>
        <p:spPr>
          <a:xfrm>
            <a:off x="693175" y="942975"/>
            <a:ext cx="5707625"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Gymnasium Env.</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2740164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40C8D-5C5F-7E4D-987F-96B8DA6CD5A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482ABEF-062F-88E1-5DED-3E141ECE4DE0}"/>
              </a:ext>
            </a:extLst>
          </p:cNvPr>
          <p:cNvSpPr txBox="1">
            <a:spLocks noGrp="1"/>
          </p:cNvSpPr>
          <p:nvPr>
            <p:ph type="body" idx="1"/>
          </p:nvPr>
        </p:nvSpPr>
        <p:spPr>
          <a:xfrm>
            <a:off x="701380" y="2415445"/>
            <a:ext cx="16519819" cy="5456109"/>
          </a:xfrm>
          <a:prstGeom prst="rect">
            <a:avLst/>
          </a:prstGeom>
        </p:spPr>
        <p:txBody>
          <a:bodyPr vert="horz" wrap="square" lIns="0" tIns="11430" rIns="0" bIns="0" rtlCol="0">
            <a:spAutoFit/>
          </a:bodyPr>
          <a:lstStyle/>
          <a:p>
            <a:pPr marL="685800" indent="-685800" algn="just">
              <a:lnSpc>
                <a:spcPct val="150000"/>
              </a:lnSpc>
              <a:buFont typeface="Arial" panose="020B0604020202020204" pitchFamily="34" charset="0"/>
              <a:buChar char="•"/>
            </a:pPr>
            <a:r>
              <a:rPr lang="en-US" sz="4000" b="1" dirty="0">
                <a:effectLst>
                  <a:outerShdw blurRad="38100" dist="38100" dir="2700000" algn="tl">
                    <a:srgbClr val="000000">
                      <a:alpha val="43137"/>
                    </a:srgbClr>
                  </a:outerShdw>
                </a:effectLst>
                <a:latin typeface="+mn-lt"/>
              </a:rPr>
              <a:t>Actions:</a:t>
            </a:r>
            <a:r>
              <a:rPr lang="en-US" sz="4000" dirty="0">
                <a:latin typeface="+mn-lt"/>
              </a:rPr>
              <a:t> Target temperatures and target stirring rates that are passed to lower-level control systems. </a:t>
            </a:r>
          </a:p>
          <a:p>
            <a:pPr marL="685800" indent="-685800" algn="just">
              <a:lnSpc>
                <a:spcPct val="150000"/>
              </a:lnSpc>
              <a:buFont typeface="Arial" panose="020B0604020202020204" pitchFamily="34" charset="0"/>
              <a:buChar char="•"/>
            </a:pPr>
            <a:r>
              <a:rPr lang="en-US" sz="4000" b="1" dirty="0">
                <a:effectLst>
                  <a:outerShdw blurRad="38100" dist="38100" dir="2700000" algn="tl">
                    <a:srgbClr val="000000">
                      <a:alpha val="43137"/>
                    </a:srgbClr>
                  </a:outerShdw>
                </a:effectLst>
                <a:latin typeface="+mn-lt"/>
              </a:rPr>
              <a:t>States:</a:t>
            </a:r>
            <a:r>
              <a:rPr lang="en-US" sz="4000" dirty="0">
                <a:latin typeface="+mn-lt"/>
              </a:rPr>
              <a:t> thermocouple and other sensory readings, perhaps filtered and delayed, plus symbolic inputs representing the ingredients. </a:t>
            </a:r>
          </a:p>
          <a:p>
            <a:pPr marL="685800" indent="-685800" algn="just">
              <a:lnSpc>
                <a:spcPct val="150000"/>
              </a:lnSpc>
              <a:buFont typeface="Arial" panose="020B0604020202020204" pitchFamily="34" charset="0"/>
              <a:buChar char="•"/>
            </a:pPr>
            <a:r>
              <a:rPr lang="en-US" sz="4000" b="1" dirty="0">
                <a:effectLst>
                  <a:outerShdw blurRad="38100" dist="38100" dir="2700000" algn="tl">
                    <a:srgbClr val="000000">
                      <a:alpha val="43137"/>
                    </a:srgbClr>
                  </a:outerShdw>
                </a:effectLst>
                <a:latin typeface="+mn-lt"/>
              </a:rPr>
              <a:t>Rewards:</a:t>
            </a:r>
            <a:r>
              <a:rPr lang="en-US" sz="4000" dirty="0">
                <a:latin typeface="+mn-lt"/>
              </a:rPr>
              <a:t> moment-by-moment measures of the rate at which the useful chemical is produced. </a:t>
            </a:r>
            <a:endParaRPr sz="4000" dirty="0">
              <a:latin typeface="+mn-lt"/>
              <a:cs typeface="Century"/>
            </a:endParaRPr>
          </a:p>
        </p:txBody>
      </p:sp>
      <p:sp>
        <p:nvSpPr>
          <p:cNvPr id="4" name="object 4">
            <a:extLst>
              <a:ext uri="{FF2B5EF4-FFF2-40B4-BE49-F238E27FC236}">
                <a16:creationId xmlns:a16="http://schemas.microsoft.com/office/drawing/2014/main" id="{61B74FB7-0112-60B5-AEB2-4E53C6C8A3D4}"/>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0A0811A6-2C01-EC50-37C2-3CA2BBD96A5F}"/>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54F62C76-2C7D-383D-ACD1-77359FE40B98}"/>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BD8E8853-78A6-595D-5157-A3B12E916641}"/>
              </a:ext>
            </a:extLst>
          </p:cNvPr>
          <p:cNvSpPr txBox="1"/>
          <p:nvPr/>
        </p:nvSpPr>
        <p:spPr>
          <a:xfrm>
            <a:off x="693175" y="942975"/>
            <a:ext cx="3574025"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Bioreactor</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1321390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ED0AB-CDFB-82DC-B9A7-6CB98172B9D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4B9BE40-3228-E37E-61EF-848F4F5A26DB}"/>
              </a:ext>
            </a:extLst>
          </p:cNvPr>
          <p:cNvSpPr txBox="1">
            <a:spLocks noGrp="1"/>
          </p:cNvSpPr>
          <p:nvPr>
            <p:ph type="body" idx="1"/>
          </p:nvPr>
        </p:nvSpPr>
        <p:spPr>
          <a:xfrm>
            <a:off x="701380" y="2415445"/>
            <a:ext cx="16519819" cy="5456109"/>
          </a:xfrm>
          <a:prstGeom prst="rect">
            <a:avLst/>
          </a:prstGeom>
        </p:spPr>
        <p:txBody>
          <a:bodyPr vert="horz" wrap="square" lIns="0" tIns="11430" rIns="0" bIns="0" rtlCol="0">
            <a:spAutoFit/>
          </a:bodyPr>
          <a:lstStyle/>
          <a:p>
            <a:pPr marL="685800" indent="-685800" algn="just">
              <a:lnSpc>
                <a:spcPct val="150000"/>
              </a:lnSpc>
              <a:buFont typeface="Arial" panose="020B0604020202020204" pitchFamily="34" charset="0"/>
              <a:buChar char="•"/>
            </a:pPr>
            <a:r>
              <a:rPr lang="en-US" sz="4000" b="1" dirty="0">
                <a:effectLst>
                  <a:outerShdw blurRad="38100" dist="38100" dir="2700000" algn="tl">
                    <a:srgbClr val="000000">
                      <a:alpha val="43137"/>
                    </a:srgbClr>
                  </a:outerShdw>
                </a:effectLst>
                <a:latin typeface="+mn-lt"/>
              </a:rPr>
              <a:t>Actions:</a:t>
            </a:r>
            <a:r>
              <a:rPr lang="en-US" sz="4000" dirty="0">
                <a:latin typeface="+mn-lt"/>
              </a:rPr>
              <a:t> the voltages applied to each motor at each joint.</a:t>
            </a:r>
          </a:p>
          <a:p>
            <a:pPr marL="685800" indent="-685800" algn="just">
              <a:lnSpc>
                <a:spcPct val="150000"/>
              </a:lnSpc>
              <a:buFont typeface="Arial" panose="020B0604020202020204" pitchFamily="34" charset="0"/>
              <a:buChar char="•"/>
            </a:pPr>
            <a:r>
              <a:rPr lang="en-US" sz="4000" b="1" dirty="0">
                <a:effectLst>
                  <a:outerShdw blurRad="38100" dist="38100" dir="2700000" algn="tl">
                    <a:srgbClr val="000000">
                      <a:alpha val="43137"/>
                    </a:srgbClr>
                  </a:outerShdw>
                </a:effectLst>
                <a:latin typeface="+mn-lt"/>
              </a:rPr>
              <a:t>States:</a:t>
            </a:r>
            <a:r>
              <a:rPr lang="en-US" sz="4000" dirty="0">
                <a:latin typeface="+mn-lt"/>
              </a:rPr>
              <a:t> latest readings of joint angles and velocities. </a:t>
            </a:r>
          </a:p>
          <a:p>
            <a:pPr marL="685800" indent="-685800" algn="just">
              <a:lnSpc>
                <a:spcPct val="150000"/>
              </a:lnSpc>
              <a:buFont typeface="Arial" panose="020B0604020202020204" pitchFamily="34" charset="0"/>
              <a:buChar char="•"/>
            </a:pPr>
            <a:r>
              <a:rPr lang="en-US" sz="4000" b="1" dirty="0">
                <a:effectLst>
                  <a:outerShdw blurRad="38100" dist="38100" dir="2700000" algn="tl">
                    <a:srgbClr val="000000">
                      <a:alpha val="43137"/>
                    </a:srgbClr>
                  </a:outerShdw>
                </a:effectLst>
                <a:latin typeface="+mn-lt"/>
              </a:rPr>
              <a:t>Rewards:</a:t>
            </a:r>
            <a:r>
              <a:rPr lang="en-US" sz="4000" dirty="0">
                <a:latin typeface="+mn-lt"/>
              </a:rPr>
              <a:t> The reward might be +1 for each object successfully picked up and placed. To encourage smooth movements, on each time step a small, negative reward can be given as a function of the moment-to-moment “jerkiness” of the motion</a:t>
            </a:r>
            <a:endParaRPr sz="4000" dirty="0">
              <a:latin typeface="+mn-lt"/>
              <a:cs typeface="Century"/>
            </a:endParaRPr>
          </a:p>
        </p:txBody>
      </p:sp>
      <p:sp>
        <p:nvSpPr>
          <p:cNvPr id="4" name="object 4">
            <a:extLst>
              <a:ext uri="{FF2B5EF4-FFF2-40B4-BE49-F238E27FC236}">
                <a16:creationId xmlns:a16="http://schemas.microsoft.com/office/drawing/2014/main" id="{C296EFFD-BED2-5C61-863A-BAA2DDFB4BCC}"/>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9E83E709-5043-9A79-55FC-C0D465CA3FEA}"/>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04B9C445-74B8-33EE-74BE-343BDBEAB443}"/>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B286D3F7-0919-EAAF-F224-039A26B22FF3}"/>
              </a:ext>
            </a:extLst>
          </p:cNvPr>
          <p:cNvSpPr txBox="1"/>
          <p:nvPr/>
        </p:nvSpPr>
        <p:spPr>
          <a:xfrm>
            <a:off x="693175" y="942975"/>
            <a:ext cx="8936600"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Pick-and-Place Robot </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2052408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DB06E-B4D5-24CA-4BA7-A1E2189C271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CDD3A7D-7EC1-4E71-C59D-9002089A347E}"/>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6C10679C-DB89-2E89-4AD0-F5F8C434FC3F}"/>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D2AE3969-ED12-183D-76B3-59C35EE27D04}"/>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pic>
        <p:nvPicPr>
          <p:cNvPr id="7" name="Picture 6">
            <a:extLst>
              <a:ext uri="{FF2B5EF4-FFF2-40B4-BE49-F238E27FC236}">
                <a16:creationId xmlns:a16="http://schemas.microsoft.com/office/drawing/2014/main" id="{B107291D-1E15-6A4B-56FF-3F0E1BE7895A}"/>
              </a:ext>
            </a:extLst>
          </p:cNvPr>
          <p:cNvPicPr>
            <a:picLocks noChangeAspect="1"/>
          </p:cNvPicPr>
          <p:nvPr/>
        </p:nvPicPr>
        <p:blipFill>
          <a:blip r:embed="rId2"/>
          <a:stretch>
            <a:fillRect/>
          </a:stretch>
        </p:blipFill>
        <p:spPr>
          <a:xfrm>
            <a:off x="5604968" y="2009337"/>
            <a:ext cx="7078063" cy="6268325"/>
          </a:xfrm>
          <a:prstGeom prst="rect">
            <a:avLst/>
          </a:prstGeom>
        </p:spPr>
      </p:pic>
      <p:sp>
        <p:nvSpPr>
          <p:cNvPr id="2" name="object 5">
            <a:extLst>
              <a:ext uri="{FF2B5EF4-FFF2-40B4-BE49-F238E27FC236}">
                <a16:creationId xmlns:a16="http://schemas.microsoft.com/office/drawing/2014/main" id="{50FC62E9-B1D3-717D-5670-CF73DF987722}"/>
              </a:ext>
            </a:extLst>
          </p:cNvPr>
          <p:cNvSpPr txBox="1"/>
          <p:nvPr/>
        </p:nvSpPr>
        <p:spPr>
          <a:xfrm>
            <a:off x="693175" y="942975"/>
            <a:ext cx="2659625" cy="953722"/>
          </a:xfrm>
          <a:prstGeom prst="rect">
            <a:avLst/>
          </a:prstGeom>
          <a:ln w="38100">
            <a:solidFill>
              <a:schemeClr val="tx1"/>
            </a:solidFill>
          </a:ln>
        </p:spPr>
        <p:txBody>
          <a:bodyPr vert="horz" wrap="square" lIns="0" tIns="107314" rIns="0" bIns="0" rtlCol="0">
            <a:spAutoFit/>
          </a:bodyPr>
          <a:lstStyle/>
          <a:p>
            <a:pPr marL="12700" marR="5080">
              <a:lnSpc>
                <a:spcPts val="7140"/>
              </a:lnSpc>
            </a:pPr>
            <a:r>
              <a:rPr lang="en-US" sz="4800" b="1" spc="655" dirty="0">
                <a:ln>
                  <a:solidFill>
                    <a:schemeClr val="tx1"/>
                  </a:solidFill>
                </a:ln>
                <a:highlight>
                  <a:srgbClr val="FFFF00"/>
                </a:highlight>
                <a:latin typeface="+mn-lt"/>
                <a:cs typeface="Century Gothic"/>
              </a:rPr>
              <a:t>A Maze</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2614094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2E706-2977-8F9E-DC65-45ABC33C9CB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F30FE44-4691-E6F9-EDB2-50B55F76F871}"/>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894B35DF-AC6F-2FA0-8EF5-F662EDA4B55A}"/>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E5BDE2BA-3F52-9F11-3868-57C6364F6F2E}"/>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pic>
        <p:nvPicPr>
          <p:cNvPr id="3" name="Picture 2">
            <a:extLst>
              <a:ext uri="{FF2B5EF4-FFF2-40B4-BE49-F238E27FC236}">
                <a16:creationId xmlns:a16="http://schemas.microsoft.com/office/drawing/2014/main" id="{DE2D43A6-2FE0-EAA7-C130-8B7E222B8D4F}"/>
              </a:ext>
            </a:extLst>
          </p:cNvPr>
          <p:cNvPicPr>
            <a:picLocks noChangeAspect="1"/>
          </p:cNvPicPr>
          <p:nvPr/>
        </p:nvPicPr>
        <p:blipFill>
          <a:blip r:embed="rId2"/>
          <a:stretch>
            <a:fillRect/>
          </a:stretch>
        </p:blipFill>
        <p:spPr>
          <a:xfrm>
            <a:off x="4099808" y="1375836"/>
            <a:ext cx="10088383" cy="7535327"/>
          </a:xfrm>
          <a:prstGeom prst="rect">
            <a:avLst/>
          </a:prstGeom>
        </p:spPr>
      </p:pic>
      <p:sp>
        <p:nvSpPr>
          <p:cNvPr id="2" name="object 5">
            <a:extLst>
              <a:ext uri="{FF2B5EF4-FFF2-40B4-BE49-F238E27FC236}">
                <a16:creationId xmlns:a16="http://schemas.microsoft.com/office/drawing/2014/main" id="{364728EF-8C20-2D61-F3C2-B8B90B57D4BD}"/>
              </a:ext>
            </a:extLst>
          </p:cNvPr>
          <p:cNvSpPr txBox="1"/>
          <p:nvPr/>
        </p:nvSpPr>
        <p:spPr>
          <a:xfrm>
            <a:off x="693175" y="942975"/>
            <a:ext cx="2659625" cy="953722"/>
          </a:xfrm>
          <a:prstGeom prst="rect">
            <a:avLst/>
          </a:prstGeom>
          <a:ln w="38100">
            <a:solidFill>
              <a:schemeClr val="tx1"/>
            </a:solidFill>
          </a:ln>
        </p:spPr>
        <p:txBody>
          <a:bodyPr vert="horz" wrap="square" lIns="0" tIns="107314" rIns="0" bIns="0" rtlCol="0">
            <a:spAutoFit/>
          </a:bodyPr>
          <a:lstStyle/>
          <a:p>
            <a:pPr marL="12700" marR="5080">
              <a:lnSpc>
                <a:spcPts val="7140"/>
              </a:lnSpc>
            </a:pPr>
            <a:r>
              <a:rPr lang="en-US" sz="4800" b="1" spc="655" dirty="0">
                <a:ln>
                  <a:solidFill>
                    <a:schemeClr val="tx1"/>
                  </a:solidFill>
                </a:ln>
                <a:highlight>
                  <a:srgbClr val="FFFF00"/>
                </a:highlight>
                <a:latin typeface="+mn-lt"/>
                <a:cs typeface="Century Gothic"/>
              </a:rPr>
              <a:t>A Maze</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1658937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9682A-ABA7-5473-4D6B-BA5E8782A7D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AF7AE51-9087-9ABA-5B48-7E7CFF2104A3}"/>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D9345BF8-234C-AE5C-253F-13E544A39AA9}"/>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34FE69C9-4668-DF0B-27FB-FAF3B3D7032F}"/>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pic>
        <p:nvPicPr>
          <p:cNvPr id="3" name="Picture 2">
            <a:extLst>
              <a:ext uri="{FF2B5EF4-FFF2-40B4-BE49-F238E27FC236}">
                <a16:creationId xmlns:a16="http://schemas.microsoft.com/office/drawing/2014/main" id="{531FA7BB-4FA6-80EC-58FB-A1F24798A92B}"/>
              </a:ext>
            </a:extLst>
          </p:cNvPr>
          <p:cNvPicPr>
            <a:picLocks noChangeAspect="1"/>
          </p:cNvPicPr>
          <p:nvPr/>
        </p:nvPicPr>
        <p:blipFill>
          <a:blip r:embed="rId2"/>
          <a:stretch>
            <a:fillRect/>
          </a:stretch>
        </p:blipFill>
        <p:spPr>
          <a:xfrm>
            <a:off x="5395389" y="2071259"/>
            <a:ext cx="7497221" cy="6144482"/>
          </a:xfrm>
          <a:prstGeom prst="rect">
            <a:avLst/>
          </a:prstGeom>
        </p:spPr>
      </p:pic>
      <p:sp>
        <p:nvSpPr>
          <p:cNvPr id="2" name="object 5">
            <a:extLst>
              <a:ext uri="{FF2B5EF4-FFF2-40B4-BE49-F238E27FC236}">
                <a16:creationId xmlns:a16="http://schemas.microsoft.com/office/drawing/2014/main" id="{0762274A-7107-8722-CBFC-6FA3C12D83F8}"/>
              </a:ext>
            </a:extLst>
          </p:cNvPr>
          <p:cNvSpPr txBox="1"/>
          <p:nvPr/>
        </p:nvSpPr>
        <p:spPr>
          <a:xfrm>
            <a:off x="693175" y="942975"/>
            <a:ext cx="2659625" cy="953722"/>
          </a:xfrm>
          <a:prstGeom prst="rect">
            <a:avLst/>
          </a:prstGeom>
          <a:ln w="38100">
            <a:solidFill>
              <a:schemeClr val="tx1"/>
            </a:solidFill>
          </a:ln>
        </p:spPr>
        <p:txBody>
          <a:bodyPr vert="horz" wrap="square" lIns="0" tIns="107314" rIns="0" bIns="0" rtlCol="0">
            <a:spAutoFit/>
          </a:bodyPr>
          <a:lstStyle/>
          <a:p>
            <a:pPr marL="12700" marR="5080">
              <a:lnSpc>
                <a:spcPts val="7140"/>
              </a:lnSpc>
            </a:pPr>
            <a:r>
              <a:rPr lang="en-US" sz="4800" b="1" spc="655" dirty="0">
                <a:ln>
                  <a:solidFill>
                    <a:schemeClr val="tx1"/>
                  </a:solidFill>
                </a:ln>
                <a:highlight>
                  <a:srgbClr val="FFFF00"/>
                </a:highlight>
                <a:latin typeface="+mn-lt"/>
                <a:cs typeface="Century Gothic"/>
              </a:rPr>
              <a:t>A Maze</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1492144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15D2E-D8BB-9B1F-44D1-E9944C85CCD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A4249A-D578-E90F-8D39-BCC88E0878C0}"/>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3EA6236F-90EE-E55F-4625-D21009707C13}"/>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E4F75EB4-BB1A-7B43-65A4-81BABF12DD97}"/>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pic>
        <p:nvPicPr>
          <p:cNvPr id="7" name="Picture 6">
            <a:extLst>
              <a:ext uri="{FF2B5EF4-FFF2-40B4-BE49-F238E27FC236}">
                <a16:creationId xmlns:a16="http://schemas.microsoft.com/office/drawing/2014/main" id="{6671BA2C-5183-A79A-318D-1B0C82E7FE3C}"/>
              </a:ext>
            </a:extLst>
          </p:cNvPr>
          <p:cNvPicPr>
            <a:picLocks noChangeAspect="1"/>
          </p:cNvPicPr>
          <p:nvPr/>
        </p:nvPicPr>
        <p:blipFill>
          <a:blip r:embed="rId2"/>
          <a:stretch>
            <a:fillRect/>
          </a:stretch>
        </p:blipFill>
        <p:spPr>
          <a:xfrm>
            <a:off x="4385598" y="1399652"/>
            <a:ext cx="9516803" cy="7487695"/>
          </a:xfrm>
          <a:prstGeom prst="rect">
            <a:avLst/>
          </a:prstGeom>
        </p:spPr>
      </p:pic>
      <p:sp>
        <p:nvSpPr>
          <p:cNvPr id="2" name="object 5">
            <a:extLst>
              <a:ext uri="{FF2B5EF4-FFF2-40B4-BE49-F238E27FC236}">
                <a16:creationId xmlns:a16="http://schemas.microsoft.com/office/drawing/2014/main" id="{F753E76E-E856-3072-1B78-47AB5117B1DD}"/>
              </a:ext>
            </a:extLst>
          </p:cNvPr>
          <p:cNvSpPr txBox="1"/>
          <p:nvPr/>
        </p:nvSpPr>
        <p:spPr>
          <a:xfrm>
            <a:off x="693175" y="942975"/>
            <a:ext cx="2659625" cy="953722"/>
          </a:xfrm>
          <a:prstGeom prst="rect">
            <a:avLst/>
          </a:prstGeom>
          <a:ln w="38100">
            <a:solidFill>
              <a:schemeClr val="tx1"/>
            </a:solidFill>
          </a:ln>
        </p:spPr>
        <p:txBody>
          <a:bodyPr vert="horz" wrap="square" lIns="0" tIns="107314" rIns="0" bIns="0" rtlCol="0">
            <a:spAutoFit/>
          </a:bodyPr>
          <a:lstStyle/>
          <a:p>
            <a:pPr marL="12700" marR="5080">
              <a:lnSpc>
                <a:spcPts val="7140"/>
              </a:lnSpc>
            </a:pPr>
            <a:r>
              <a:rPr lang="en-US" sz="4800" b="1" spc="655" dirty="0">
                <a:ln>
                  <a:solidFill>
                    <a:schemeClr val="tx1"/>
                  </a:solidFill>
                </a:ln>
                <a:highlight>
                  <a:srgbClr val="FFFF00"/>
                </a:highlight>
                <a:latin typeface="+mn-lt"/>
                <a:cs typeface="Century Gothic"/>
              </a:rPr>
              <a:t>A Maze</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2795740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68C69-46A7-CC0A-F0BC-FC1F3DB9844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CA86360-4EF9-1635-B456-2713136851BD}"/>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C129E09A-6E5A-74D5-605A-D3BBEB2C744A}"/>
              </a:ext>
            </a:extLst>
          </p:cNvPr>
          <p:cNvSpPr txBox="1"/>
          <p:nvPr/>
        </p:nvSpPr>
        <p:spPr>
          <a:xfrm>
            <a:off x="9617074" y="333678"/>
            <a:ext cx="29559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endParaRPr sz="2000" dirty="0">
              <a:latin typeface="Century"/>
              <a:cs typeface="Century"/>
            </a:endParaRPr>
          </a:p>
        </p:txBody>
      </p:sp>
      <p:sp>
        <p:nvSpPr>
          <p:cNvPr id="4" name="object 4">
            <a:extLst>
              <a:ext uri="{FF2B5EF4-FFF2-40B4-BE49-F238E27FC236}">
                <a16:creationId xmlns:a16="http://schemas.microsoft.com/office/drawing/2014/main" id="{3FEB5311-A9E8-A1E2-7FD7-E79DFF18BF5E}"/>
              </a:ext>
            </a:extLst>
          </p:cNvPr>
          <p:cNvSpPr txBox="1"/>
          <p:nvPr/>
        </p:nvSpPr>
        <p:spPr>
          <a:xfrm>
            <a:off x="16100480" y="333863"/>
            <a:ext cx="1654120"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5" name="object 5">
            <a:extLst>
              <a:ext uri="{FF2B5EF4-FFF2-40B4-BE49-F238E27FC236}">
                <a16:creationId xmlns:a16="http://schemas.microsoft.com/office/drawing/2014/main" id="{2BEDABA7-F75C-E131-38E9-3335BA3AD552}"/>
              </a:ext>
            </a:extLst>
          </p:cNvPr>
          <p:cNvSpPr txBox="1"/>
          <p:nvPr/>
        </p:nvSpPr>
        <p:spPr>
          <a:xfrm>
            <a:off x="9629775" y="5342093"/>
            <a:ext cx="7610475" cy="3750385"/>
          </a:xfrm>
          <a:prstGeom prst="rect">
            <a:avLst/>
          </a:prstGeom>
        </p:spPr>
        <p:txBody>
          <a:bodyPr vert="horz" wrap="square" lIns="0" tIns="107314" rIns="0" bIns="0" rtlCol="0">
            <a:spAutoFit/>
          </a:bodyPr>
          <a:lstStyle/>
          <a:p>
            <a:pPr marL="12700" marR="5080">
              <a:lnSpc>
                <a:spcPts val="7140"/>
              </a:lnSpc>
              <a:spcBef>
                <a:spcPts val="844"/>
              </a:spcBef>
            </a:pPr>
            <a:r>
              <a:rPr lang="en-US" sz="6500" b="1" spc="655" dirty="0">
                <a:latin typeface="+mn-lt"/>
                <a:cs typeface="Century Gothic"/>
              </a:rPr>
              <a:t>Difference from Supervised and Unsupervised Learning</a:t>
            </a:r>
          </a:p>
        </p:txBody>
      </p:sp>
      <p:sp>
        <p:nvSpPr>
          <p:cNvPr id="6" name="object 6">
            <a:extLst>
              <a:ext uri="{FF2B5EF4-FFF2-40B4-BE49-F238E27FC236}">
                <a16:creationId xmlns:a16="http://schemas.microsoft.com/office/drawing/2014/main" id="{F7ECA2A7-32A2-B025-9BA1-05B01431141E}"/>
              </a:ext>
            </a:extLst>
          </p:cNvPr>
          <p:cNvSpPr txBox="1"/>
          <p:nvPr/>
        </p:nvSpPr>
        <p:spPr>
          <a:xfrm>
            <a:off x="899140" y="6778545"/>
            <a:ext cx="1562100" cy="1549400"/>
          </a:xfrm>
          <a:prstGeom prst="rect">
            <a:avLst/>
          </a:prstGeom>
        </p:spPr>
        <p:txBody>
          <a:bodyPr vert="horz" wrap="square" lIns="0" tIns="12700" rIns="0" bIns="0" rtlCol="0">
            <a:spAutoFit/>
          </a:bodyPr>
          <a:lstStyle/>
          <a:p>
            <a:pPr marL="12700">
              <a:lnSpc>
                <a:spcPct val="100000"/>
              </a:lnSpc>
              <a:spcBef>
                <a:spcPts val="100"/>
              </a:spcBef>
            </a:pPr>
            <a:r>
              <a:rPr sz="10000" spc="-620">
                <a:latin typeface="Century Gothic"/>
                <a:cs typeface="Century Gothic"/>
              </a:rPr>
              <a:t>0</a:t>
            </a:r>
            <a:r>
              <a:rPr lang="en-US" sz="10000" spc="-620" dirty="0">
                <a:latin typeface="Century Gothic"/>
                <a:cs typeface="Century Gothic"/>
              </a:rPr>
              <a:t>5</a:t>
            </a:r>
            <a:r>
              <a:rPr sz="10000" spc="-620">
                <a:latin typeface="Century Gothic"/>
                <a:cs typeface="Century Gothic"/>
              </a:rPr>
              <a:t>.</a:t>
            </a:r>
            <a:endParaRPr sz="10000" dirty="0">
              <a:latin typeface="Century Gothic"/>
              <a:cs typeface="Century Gothic"/>
            </a:endParaRPr>
          </a:p>
        </p:txBody>
      </p:sp>
      <p:sp>
        <p:nvSpPr>
          <p:cNvPr id="7" name="object 7">
            <a:extLst>
              <a:ext uri="{FF2B5EF4-FFF2-40B4-BE49-F238E27FC236}">
                <a16:creationId xmlns:a16="http://schemas.microsoft.com/office/drawing/2014/main" id="{4B81B866-DBE9-10CC-F24D-12555E665320}"/>
              </a:ext>
            </a:extLst>
          </p:cNvPr>
          <p:cNvSpPr/>
          <p:nvPr/>
        </p:nvSpPr>
        <p:spPr>
          <a:xfrm>
            <a:off x="0" y="9353550"/>
            <a:ext cx="8678545" cy="269240"/>
          </a:xfrm>
          <a:custGeom>
            <a:avLst/>
            <a:gdLst/>
            <a:ahLst/>
            <a:cxnLst/>
            <a:rect l="l" t="t" r="r" b="b"/>
            <a:pathLst>
              <a:path w="8678545" h="269240">
                <a:moveTo>
                  <a:pt x="8678430" y="0"/>
                </a:moveTo>
                <a:lnTo>
                  <a:pt x="0" y="0"/>
                </a:lnTo>
                <a:lnTo>
                  <a:pt x="0" y="269163"/>
                </a:lnTo>
                <a:lnTo>
                  <a:pt x="8678430" y="269163"/>
                </a:lnTo>
                <a:lnTo>
                  <a:pt x="8678430" y="0"/>
                </a:lnTo>
                <a:close/>
              </a:path>
            </a:pathLst>
          </a:custGeom>
          <a:solidFill>
            <a:srgbClr val="000000"/>
          </a:solidFill>
        </p:spPr>
        <p:txBody>
          <a:bodyPr wrap="square" lIns="0" tIns="0" rIns="0" bIns="0" rtlCol="0"/>
          <a:lstStyle/>
          <a:p>
            <a:endParaRPr/>
          </a:p>
        </p:txBody>
      </p:sp>
      <p:sp>
        <p:nvSpPr>
          <p:cNvPr id="8" name="object 8">
            <a:extLst>
              <a:ext uri="{FF2B5EF4-FFF2-40B4-BE49-F238E27FC236}">
                <a16:creationId xmlns:a16="http://schemas.microsoft.com/office/drawing/2014/main" id="{0D5FFADC-A94D-764E-0B9D-BAA208B34328}"/>
              </a:ext>
            </a:extLst>
          </p:cNvPr>
          <p:cNvSpPr/>
          <p:nvPr/>
        </p:nvSpPr>
        <p:spPr>
          <a:xfrm>
            <a:off x="14591118" y="9344025"/>
            <a:ext cx="2291080" cy="278765"/>
          </a:xfrm>
          <a:custGeom>
            <a:avLst/>
            <a:gdLst/>
            <a:ahLst/>
            <a:cxnLst/>
            <a:rect l="l" t="t" r="r" b="b"/>
            <a:pathLst>
              <a:path w="2291080" h="278765">
                <a:moveTo>
                  <a:pt x="2290762" y="0"/>
                </a:moveTo>
                <a:lnTo>
                  <a:pt x="0" y="0"/>
                </a:lnTo>
                <a:lnTo>
                  <a:pt x="0" y="278688"/>
                </a:lnTo>
                <a:lnTo>
                  <a:pt x="2290762" y="278688"/>
                </a:lnTo>
                <a:lnTo>
                  <a:pt x="2290762" y="0"/>
                </a:lnTo>
                <a:close/>
              </a:path>
            </a:pathLst>
          </a:custGeom>
          <a:solidFill>
            <a:srgbClr val="7491E8"/>
          </a:solidFill>
        </p:spPr>
        <p:txBody>
          <a:bodyPr wrap="square" lIns="0" tIns="0" rIns="0" bIns="0" rtlCol="0"/>
          <a:lstStyle/>
          <a:p>
            <a:endParaRPr/>
          </a:p>
        </p:txBody>
      </p:sp>
      <p:sp>
        <p:nvSpPr>
          <p:cNvPr id="9" name="object 9">
            <a:extLst>
              <a:ext uri="{FF2B5EF4-FFF2-40B4-BE49-F238E27FC236}">
                <a16:creationId xmlns:a16="http://schemas.microsoft.com/office/drawing/2014/main" id="{3D67FBAC-69BA-E6DF-066D-B64682B53B73}"/>
              </a:ext>
            </a:extLst>
          </p:cNvPr>
          <p:cNvSpPr/>
          <p:nvPr/>
        </p:nvSpPr>
        <p:spPr>
          <a:xfrm>
            <a:off x="9565881" y="9353550"/>
            <a:ext cx="4581525" cy="269240"/>
          </a:xfrm>
          <a:custGeom>
            <a:avLst/>
            <a:gdLst/>
            <a:ahLst/>
            <a:cxnLst/>
            <a:rect l="l" t="t" r="r" b="b"/>
            <a:pathLst>
              <a:path w="4581525" h="269240">
                <a:moveTo>
                  <a:pt x="4581525" y="0"/>
                </a:moveTo>
                <a:lnTo>
                  <a:pt x="0" y="0"/>
                </a:lnTo>
                <a:lnTo>
                  <a:pt x="0" y="269163"/>
                </a:lnTo>
                <a:lnTo>
                  <a:pt x="4581525" y="269163"/>
                </a:lnTo>
                <a:lnTo>
                  <a:pt x="4581525" y="0"/>
                </a:lnTo>
                <a:close/>
              </a:path>
            </a:pathLst>
          </a:custGeom>
          <a:solidFill>
            <a:srgbClr val="2B57D9"/>
          </a:solidFill>
        </p:spPr>
        <p:txBody>
          <a:bodyPr wrap="square" lIns="0" tIns="0" rIns="0" bIns="0" rtlCol="0"/>
          <a:lstStyle/>
          <a:p>
            <a:endParaRPr/>
          </a:p>
        </p:txBody>
      </p:sp>
      <p:sp>
        <p:nvSpPr>
          <p:cNvPr id="10" name="object 10">
            <a:extLst>
              <a:ext uri="{FF2B5EF4-FFF2-40B4-BE49-F238E27FC236}">
                <a16:creationId xmlns:a16="http://schemas.microsoft.com/office/drawing/2014/main" id="{C74D0CDC-9BC1-2FB8-25BD-D6922068732C}"/>
              </a:ext>
            </a:extLst>
          </p:cNvPr>
          <p:cNvSpPr/>
          <p:nvPr/>
        </p:nvSpPr>
        <p:spPr>
          <a:xfrm>
            <a:off x="17103737" y="9344025"/>
            <a:ext cx="1184275" cy="278765"/>
          </a:xfrm>
          <a:custGeom>
            <a:avLst/>
            <a:gdLst/>
            <a:ahLst/>
            <a:cxnLst/>
            <a:rect l="l" t="t" r="r" b="b"/>
            <a:pathLst>
              <a:path w="1184275" h="278765">
                <a:moveTo>
                  <a:pt x="1184262" y="0"/>
                </a:moveTo>
                <a:lnTo>
                  <a:pt x="0" y="0"/>
                </a:lnTo>
                <a:lnTo>
                  <a:pt x="0" y="278688"/>
                </a:lnTo>
                <a:lnTo>
                  <a:pt x="1184262" y="278688"/>
                </a:lnTo>
                <a:lnTo>
                  <a:pt x="1184262" y="0"/>
                </a:lnTo>
                <a:close/>
              </a:path>
            </a:pathLst>
          </a:custGeom>
          <a:solidFill>
            <a:srgbClr val="A5CAF3"/>
          </a:solidFill>
        </p:spPr>
        <p:txBody>
          <a:bodyPr wrap="square" lIns="0" tIns="0" rIns="0" bIns="0" rtlCol="0"/>
          <a:lstStyle/>
          <a:p>
            <a:endParaRPr/>
          </a:p>
        </p:txBody>
      </p:sp>
    </p:spTree>
    <p:extLst>
      <p:ext uri="{BB962C8B-B14F-4D97-AF65-F5344CB8AC3E}">
        <p14:creationId xmlns:p14="http://schemas.microsoft.com/office/powerpoint/2010/main" val="3209671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532F5-74F5-98CA-F5AD-F2BCFB3038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A7937CE-861D-9419-B886-3A43642E1E6E}"/>
              </a:ext>
            </a:extLst>
          </p:cNvPr>
          <p:cNvSpPr txBox="1">
            <a:spLocks noGrp="1"/>
          </p:cNvSpPr>
          <p:nvPr>
            <p:ph type="body" idx="1"/>
          </p:nvPr>
        </p:nvSpPr>
        <p:spPr>
          <a:xfrm>
            <a:off x="762000" y="2124662"/>
            <a:ext cx="16764000" cy="5456109"/>
          </a:xfrm>
          <a:prstGeom prst="rect">
            <a:avLst/>
          </a:prstGeom>
        </p:spPr>
        <p:txBody>
          <a:bodyPr vert="horz" wrap="square" lIns="0" tIns="11430" rIns="0" bIns="0" rtlCol="0">
            <a:spAutoFit/>
          </a:bodyPr>
          <a:lstStyle/>
          <a:p>
            <a:pPr marL="571500" indent="-571500" algn="just">
              <a:lnSpc>
                <a:spcPct val="150000"/>
              </a:lnSpc>
              <a:buFont typeface="Arial" panose="020B0604020202020204" pitchFamily="34" charset="0"/>
              <a:buChar char="•"/>
            </a:pPr>
            <a:r>
              <a:rPr lang="en-US" sz="4000" dirty="0">
                <a:latin typeface="+mn-lt"/>
              </a:rPr>
              <a:t>Supervised learning is learning from a training set of labeled.</a:t>
            </a:r>
          </a:p>
          <a:p>
            <a:pPr marL="571500" indent="-571500" algn="just">
              <a:lnSpc>
                <a:spcPct val="150000"/>
              </a:lnSpc>
              <a:buFont typeface="Arial" panose="020B0604020202020204" pitchFamily="34" charset="0"/>
              <a:buChar char="•"/>
            </a:pPr>
            <a:r>
              <a:rPr lang="en-US" sz="4000" dirty="0">
                <a:latin typeface="+mn-lt"/>
              </a:rPr>
              <a:t>Objective of SL is for the system to extrapolate, or generalize, its responses to act correctly in situations not present in the training set. </a:t>
            </a:r>
          </a:p>
          <a:p>
            <a:pPr marL="571500" indent="-571500" algn="just">
              <a:lnSpc>
                <a:spcPct val="150000"/>
              </a:lnSpc>
              <a:buFont typeface="Arial" panose="020B0604020202020204" pitchFamily="34" charset="0"/>
              <a:buChar char="•"/>
            </a:pPr>
            <a:r>
              <a:rPr lang="en-US" sz="4000" dirty="0">
                <a:latin typeface="+mn-lt"/>
              </a:rPr>
              <a:t>In interactive problems it is often impractical to obtain examples of desired behavior that are both correct and representative of all the situations in which the agent has to act. </a:t>
            </a:r>
          </a:p>
        </p:txBody>
      </p:sp>
      <p:sp>
        <p:nvSpPr>
          <p:cNvPr id="4" name="object 4">
            <a:extLst>
              <a:ext uri="{FF2B5EF4-FFF2-40B4-BE49-F238E27FC236}">
                <a16:creationId xmlns:a16="http://schemas.microsoft.com/office/drawing/2014/main" id="{19B80BB3-2D7F-363B-9A9F-03ACA10B7022}"/>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5093FACF-B8AF-7EBA-E774-33C3E5767930}"/>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9DA91AB3-22BD-1874-9DE0-7B8796DCDD48}"/>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678D0691-B60C-C4B4-ADC2-8FFD34247496}"/>
              </a:ext>
            </a:extLst>
          </p:cNvPr>
          <p:cNvSpPr txBox="1"/>
          <p:nvPr/>
        </p:nvSpPr>
        <p:spPr>
          <a:xfrm>
            <a:off x="693175" y="942975"/>
            <a:ext cx="8936600"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Supervised Learning</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24044445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7D519-EA12-686A-7AFF-85F4A07DB32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E552E66-FBB7-8C50-DFDE-4004F178F087}"/>
              </a:ext>
            </a:extLst>
          </p:cNvPr>
          <p:cNvSpPr txBox="1">
            <a:spLocks noGrp="1"/>
          </p:cNvSpPr>
          <p:nvPr>
            <p:ph type="body" idx="1"/>
          </p:nvPr>
        </p:nvSpPr>
        <p:spPr>
          <a:xfrm>
            <a:off x="701380" y="2415445"/>
            <a:ext cx="16519819" cy="5456109"/>
          </a:xfrm>
          <a:prstGeom prst="rect">
            <a:avLst/>
          </a:prstGeom>
        </p:spPr>
        <p:txBody>
          <a:bodyPr vert="horz" wrap="square" lIns="0" tIns="11430" rIns="0" bIns="0" rtlCol="0">
            <a:spAutoFit/>
          </a:bodyPr>
          <a:lstStyle/>
          <a:p>
            <a:pPr marL="685800" indent="-685800" algn="just">
              <a:lnSpc>
                <a:spcPct val="150000"/>
              </a:lnSpc>
              <a:buFont typeface="Arial" panose="020B0604020202020204" pitchFamily="34" charset="0"/>
              <a:buChar char="•"/>
            </a:pPr>
            <a:r>
              <a:rPr lang="en-US" sz="4000" dirty="0">
                <a:latin typeface="+mn-lt"/>
              </a:rPr>
              <a:t>Unsupervised learning is typically about finding structure hidden in collections of unlabeled data. </a:t>
            </a:r>
          </a:p>
          <a:p>
            <a:pPr marL="685800" indent="-685800" algn="just">
              <a:lnSpc>
                <a:spcPct val="150000"/>
              </a:lnSpc>
              <a:buFont typeface="Arial" panose="020B0604020202020204" pitchFamily="34" charset="0"/>
              <a:buChar char="•"/>
            </a:pPr>
            <a:r>
              <a:rPr lang="en-US" sz="4000" dirty="0">
                <a:latin typeface="+mn-lt"/>
              </a:rPr>
              <a:t>Reinforcement learning as a kind of unsupervised learning because it does not rely on examples of correct behavior.</a:t>
            </a:r>
          </a:p>
          <a:p>
            <a:pPr marL="685800" indent="-685800" algn="just">
              <a:lnSpc>
                <a:spcPct val="150000"/>
              </a:lnSpc>
              <a:buFont typeface="Arial" panose="020B0604020202020204" pitchFamily="34" charset="0"/>
              <a:buChar char="•"/>
            </a:pPr>
            <a:r>
              <a:rPr lang="en-US" sz="4000" dirty="0">
                <a:latin typeface="+mn-lt"/>
              </a:rPr>
              <a:t>Reinforcement learning is trying to maximize a reward signal instead of trying to find hidden structure.</a:t>
            </a:r>
            <a:endParaRPr sz="4000" dirty="0">
              <a:latin typeface="+mn-lt"/>
              <a:cs typeface="Century"/>
            </a:endParaRPr>
          </a:p>
        </p:txBody>
      </p:sp>
      <p:sp>
        <p:nvSpPr>
          <p:cNvPr id="4" name="object 4">
            <a:extLst>
              <a:ext uri="{FF2B5EF4-FFF2-40B4-BE49-F238E27FC236}">
                <a16:creationId xmlns:a16="http://schemas.microsoft.com/office/drawing/2014/main" id="{1845B136-5762-E11F-1B87-8F308611343A}"/>
              </a:ext>
            </a:extLst>
          </p:cNvPr>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FCF0D36D-B66C-0B5D-2B74-C46CC914028A}"/>
              </a:ext>
            </a:extLst>
          </p:cNvPr>
          <p:cNvSpPr txBox="1"/>
          <p:nvPr/>
        </p:nvSpPr>
        <p:spPr>
          <a:xfrm>
            <a:off x="9617075" y="333678"/>
            <a:ext cx="28797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Century"/>
                <a:cs typeface="Century"/>
              </a:rPr>
              <a:t>Reinforcement Learning</a:t>
            </a:r>
          </a:p>
        </p:txBody>
      </p:sp>
      <p:sp>
        <p:nvSpPr>
          <p:cNvPr id="6" name="object 6">
            <a:extLst>
              <a:ext uri="{FF2B5EF4-FFF2-40B4-BE49-F238E27FC236}">
                <a16:creationId xmlns:a16="http://schemas.microsoft.com/office/drawing/2014/main" id="{48455C8C-AB74-DB18-C522-B829813B3790}"/>
              </a:ext>
            </a:extLst>
          </p:cNvPr>
          <p:cNvSpPr txBox="1"/>
          <p:nvPr/>
        </p:nvSpPr>
        <p:spPr>
          <a:xfrm>
            <a:off x="16100479" y="333863"/>
            <a:ext cx="1629295" cy="319318"/>
          </a:xfrm>
          <a:prstGeom prst="rect">
            <a:avLst/>
          </a:prstGeom>
        </p:spPr>
        <p:txBody>
          <a:bodyPr vert="horz" wrap="square" lIns="0" tIns="11430" rIns="0" bIns="0" rtlCol="0">
            <a:spAutoFit/>
          </a:bodyPr>
          <a:lstStyle/>
          <a:p>
            <a:pPr marL="12700">
              <a:lnSpc>
                <a:spcPct val="100000"/>
              </a:lnSpc>
              <a:spcBef>
                <a:spcPts val="90"/>
              </a:spcBef>
            </a:pPr>
            <a:r>
              <a:rPr lang="en-US" sz="2000" spc="-10" dirty="0">
                <a:latin typeface="Century"/>
                <a:cs typeface="Century"/>
              </a:rPr>
              <a:t>Spring 2026</a:t>
            </a:r>
            <a:endParaRPr lang="en-US" sz="2000" dirty="0">
              <a:latin typeface="Century"/>
              <a:cs typeface="Century"/>
            </a:endParaRPr>
          </a:p>
        </p:txBody>
      </p:sp>
      <p:sp>
        <p:nvSpPr>
          <p:cNvPr id="3" name="object 5">
            <a:extLst>
              <a:ext uri="{FF2B5EF4-FFF2-40B4-BE49-F238E27FC236}">
                <a16:creationId xmlns:a16="http://schemas.microsoft.com/office/drawing/2014/main" id="{6C19F6B9-4174-3866-1224-742B6F879AAA}"/>
              </a:ext>
            </a:extLst>
          </p:cNvPr>
          <p:cNvSpPr txBox="1"/>
          <p:nvPr/>
        </p:nvSpPr>
        <p:spPr>
          <a:xfrm>
            <a:off x="693175" y="942975"/>
            <a:ext cx="8936600" cy="953722"/>
          </a:xfrm>
          <a:prstGeom prst="rect">
            <a:avLst/>
          </a:prstGeom>
        </p:spPr>
        <p:txBody>
          <a:bodyPr vert="horz" wrap="square" lIns="0" tIns="107314" rIns="0" bIns="0" rtlCol="0">
            <a:spAutoFit/>
          </a:bodyPr>
          <a:lstStyle/>
          <a:p>
            <a:pPr marL="12700" marR="5080">
              <a:lnSpc>
                <a:spcPts val="7140"/>
              </a:lnSpc>
              <a:spcBef>
                <a:spcPts val="844"/>
              </a:spcBef>
            </a:pPr>
            <a:r>
              <a:rPr lang="en-US" sz="4800" b="1" spc="655" dirty="0">
                <a:ln>
                  <a:solidFill>
                    <a:schemeClr val="tx1"/>
                  </a:solidFill>
                </a:ln>
                <a:highlight>
                  <a:srgbClr val="FFFF00"/>
                </a:highlight>
                <a:latin typeface="+mn-lt"/>
                <a:cs typeface="Century Gothic"/>
              </a:rPr>
              <a:t>Unsupervised Learning</a:t>
            </a:r>
            <a:endParaRPr sz="4800" b="1" dirty="0">
              <a:ln>
                <a:solidFill>
                  <a:schemeClr val="tx1"/>
                </a:solidFill>
              </a:ln>
              <a:highlight>
                <a:srgbClr val="FFFF00"/>
              </a:highlight>
              <a:latin typeface="+mn-lt"/>
              <a:cs typeface="Century Gothic"/>
            </a:endParaRPr>
          </a:p>
        </p:txBody>
      </p:sp>
    </p:spTree>
    <p:extLst>
      <p:ext uri="{BB962C8B-B14F-4D97-AF65-F5344CB8AC3E}">
        <p14:creationId xmlns:p14="http://schemas.microsoft.com/office/powerpoint/2010/main" val="22129892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353550"/>
            <a:ext cx="8684895" cy="269240"/>
          </a:xfrm>
          <a:custGeom>
            <a:avLst/>
            <a:gdLst/>
            <a:ahLst/>
            <a:cxnLst/>
            <a:rect l="l" t="t" r="r" b="b"/>
            <a:pathLst>
              <a:path w="8684895" h="269240">
                <a:moveTo>
                  <a:pt x="8684793" y="0"/>
                </a:moveTo>
                <a:lnTo>
                  <a:pt x="0" y="0"/>
                </a:lnTo>
                <a:lnTo>
                  <a:pt x="0" y="269163"/>
                </a:lnTo>
                <a:lnTo>
                  <a:pt x="8684793" y="269163"/>
                </a:lnTo>
                <a:lnTo>
                  <a:pt x="8684793" y="0"/>
                </a:lnTo>
                <a:close/>
              </a:path>
            </a:pathLst>
          </a:custGeom>
          <a:solidFill>
            <a:srgbClr val="000000"/>
          </a:solidFill>
        </p:spPr>
        <p:txBody>
          <a:bodyPr wrap="square" lIns="0" tIns="0" rIns="0" bIns="0" rtlCol="0"/>
          <a:lstStyle/>
          <a:p>
            <a:endParaRPr/>
          </a:p>
        </p:txBody>
      </p:sp>
      <p:sp>
        <p:nvSpPr>
          <p:cNvPr id="3" name="object 3"/>
          <p:cNvSpPr/>
          <p:nvPr/>
        </p:nvSpPr>
        <p:spPr>
          <a:xfrm>
            <a:off x="14597495" y="9344025"/>
            <a:ext cx="2291080" cy="278765"/>
          </a:xfrm>
          <a:custGeom>
            <a:avLst/>
            <a:gdLst/>
            <a:ahLst/>
            <a:cxnLst/>
            <a:rect l="l" t="t" r="r" b="b"/>
            <a:pathLst>
              <a:path w="2291080" h="278765">
                <a:moveTo>
                  <a:pt x="2290762" y="0"/>
                </a:moveTo>
                <a:lnTo>
                  <a:pt x="0" y="0"/>
                </a:lnTo>
                <a:lnTo>
                  <a:pt x="0" y="278688"/>
                </a:lnTo>
                <a:lnTo>
                  <a:pt x="2290762" y="278688"/>
                </a:lnTo>
                <a:lnTo>
                  <a:pt x="2290762" y="0"/>
                </a:lnTo>
                <a:close/>
              </a:path>
            </a:pathLst>
          </a:custGeom>
          <a:solidFill>
            <a:srgbClr val="7491E8"/>
          </a:solidFill>
        </p:spPr>
        <p:txBody>
          <a:bodyPr wrap="square" lIns="0" tIns="0" rIns="0" bIns="0" rtlCol="0"/>
          <a:lstStyle/>
          <a:p>
            <a:endParaRPr/>
          </a:p>
        </p:txBody>
      </p:sp>
      <p:sp>
        <p:nvSpPr>
          <p:cNvPr id="4" name="object 4"/>
          <p:cNvSpPr/>
          <p:nvPr/>
        </p:nvSpPr>
        <p:spPr>
          <a:xfrm>
            <a:off x="9572243" y="9353550"/>
            <a:ext cx="4581525" cy="269240"/>
          </a:xfrm>
          <a:custGeom>
            <a:avLst/>
            <a:gdLst/>
            <a:ahLst/>
            <a:cxnLst/>
            <a:rect l="l" t="t" r="r" b="b"/>
            <a:pathLst>
              <a:path w="4581525" h="269240">
                <a:moveTo>
                  <a:pt x="4581525" y="0"/>
                </a:moveTo>
                <a:lnTo>
                  <a:pt x="0" y="0"/>
                </a:lnTo>
                <a:lnTo>
                  <a:pt x="0" y="269163"/>
                </a:lnTo>
                <a:lnTo>
                  <a:pt x="4581525" y="269163"/>
                </a:lnTo>
                <a:lnTo>
                  <a:pt x="4581525" y="0"/>
                </a:lnTo>
                <a:close/>
              </a:path>
            </a:pathLst>
          </a:custGeom>
          <a:solidFill>
            <a:srgbClr val="2B57D9"/>
          </a:solidFill>
        </p:spPr>
        <p:txBody>
          <a:bodyPr wrap="square" lIns="0" tIns="0" rIns="0" bIns="0" rtlCol="0"/>
          <a:lstStyle/>
          <a:p>
            <a:endParaRPr/>
          </a:p>
        </p:txBody>
      </p:sp>
      <p:sp>
        <p:nvSpPr>
          <p:cNvPr id="5" name="object 5"/>
          <p:cNvSpPr/>
          <p:nvPr/>
        </p:nvSpPr>
        <p:spPr>
          <a:xfrm>
            <a:off x="17110099" y="9344025"/>
            <a:ext cx="1177925" cy="278765"/>
          </a:xfrm>
          <a:custGeom>
            <a:avLst/>
            <a:gdLst/>
            <a:ahLst/>
            <a:cxnLst/>
            <a:rect l="l" t="t" r="r" b="b"/>
            <a:pathLst>
              <a:path w="1177925" h="278765">
                <a:moveTo>
                  <a:pt x="1177899" y="0"/>
                </a:moveTo>
                <a:lnTo>
                  <a:pt x="0" y="0"/>
                </a:lnTo>
                <a:lnTo>
                  <a:pt x="0" y="278688"/>
                </a:lnTo>
                <a:lnTo>
                  <a:pt x="1177899" y="278688"/>
                </a:lnTo>
                <a:lnTo>
                  <a:pt x="1177899" y="0"/>
                </a:lnTo>
                <a:close/>
              </a:path>
            </a:pathLst>
          </a:custGeom>
          <a:solidFill>
            <a:srgbClr val="A5CAF3"/>
          </a:solidFill>
        </p:spPr>
        <p:txBody>
          <a:bodyPr wrap="square" lIns="0" tIns="0" rIns="0" bIns="0" rtlCol="0"/>
          <a:lstStyle/>
          <a:p>
            <a:endParaRPr/>
          </a:p>
        </p:txBody>
      </p:sp>
      <p:sp>
        <p:nvSpPr>
          <p:cNvPr id="6" name="object 6"/>
          <p:cNvSpPr txBox="1"/>
          <p:nvPr/>
        </p:nvSpPr>
        <p:spPr>
          <a:xfrm>
            <a:off x="905508" y="6778545"/>
            <a:ext cx="1543050" cy="1549400"/>
          </a:xfrm>
          <a:prstGeom prst="rect">
            <a:avLst/>
          </a:prstGeom>
        </p:spPr>
        <p:txBody>
          <a:bodyPr vert="horz" wrap="square" lIns="0" tIns="12700" rIns="0" bIns="0" rtlCol="0">
            <a:spAutoFit/>
          </a:bodyPr>
          <a:lstStyle/>
          <a:p>
            <a:pPr marL="12700">
              <a:lnSpc>
                <a:spcPct val="100000"/>
              </a:lnSpc>
              <a:spcBef>
                <a:spcPts val="100"/>
              </a:spcBef>
            </a:pPr>
            <a:r>
              <a:rPr sz="10000" spc="-695" dirty="0">
                <a:latin typeface="Century Gothic"/>
                <a:cs typeface="Century Gothic"/>
              </a:rPr>
              <a:t>18.</a:t>
            </a:r>
            <a:endParaRPr sz="10000">
              <a:latin typeface="Century Gothic"/>
              <a:cs typeface="Century Gothic"/>
            </a:endParaRPr>
          </a:p>
        </p:txBody>
      </p:sp>
      <p:sp>
        <p:nvSpPr>
          <p:cNvPr id="7" name="object 7"/>
          <p:cNvSpPr/>
          <p:nvPr/>
        </p:nvSpPr>
        <p:spPr>
          <a:xfrm>
            <a:off x="9629775" y="923925"/>
            <a:ext cx="8658225" cy="19050"/>
          </a:xfrm>
          <a:custGeom>
            <a:avLst/>
            <a:gdLst/>
            <a:ahLst/>
            <a:cxnLst/>
            <a:rect l="l" t="t" r="r" b="b"/>
            <a:pathLst>
              <a:path w="8658225" h="19050">
                <a:moveTo>
                  <a:pt x="8658225" y="0"/>
                </a:moveTo>
                <a:lnTo>
                  <a:pt x="0" y="0"/>
                </a:lnTo>
                <a:lnTo>
                  <a:pt x="0" y="19050"/>
                </a:lnTo>
                <a:lnTo>
                  <a:pt x="8658225" y="19050"/>
                </a:lnTo>
                <a:lnTo>
                  <a:pt x="8658225" y="0"/>
                </a:lnTo>
                <a:close/>
              </a:path>
            </a:pathLst>
          </a:custGeom>
          <a:solidFill>
            <a:srgbClr val="000000"/>
          </a:solidFill>
        </p:spPr>
        <p:txBody>
          <a:bodyPr wrap="square" lIns="0" tIns="0" rIns="0" bIns="0" rtlCol="0"/>
          <a:lstStyle/>
          <a:p>
            <a:endParaRPr/>
          </a:p>
        </p:txBody>
      </p:sp>
      <p:sp>
        <p:nvSpPr>
          <p:cNvPr id="8" name="object 8"/>
          <p:cNvSpPr txBox="1"/>
          <p:nvPr/>
        </p:nvSpPr>
        <p:spPr>
          <a:xfrm>
            <a:off x="9617075" y="333678"/>
            <a:ext cx="228727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Century"/>
                <a:cs typeface="Century"/>
              </a:rPr>
              <a:t>Presentation</a:t>
            </a:r>
            <a:r>
              <a:rPr sz="2000" spc="-135" dirty="0">
                <a:latin typeface="Century"/>
                <a:cs typeface="Century"/>
              </a:rPr>
              <a:t> </a:t>
            </a:r>
            <a:r>
              <a:rPr sz="2000" spc="-20" dirty="0">
                <a:latin typeface="Century"/>
                <a:cs typeface="Century"/>
              </a:rPr>
              <a:t>Name</a:t>
            </a:r>
            <a:endParaRPr sz="2000">
              <a:latin typeface="Century"/>
              <a:cs typeface="Century"/>
            </a:endParaRPr>
          </a:p>
        </p:txBody>
      </p:sp>
      <p:sp>
        <p:nvSpPr>
          <p:cNvPr id="9" name="object 9"/>
          <p:cNvSpPr txBox="1"/>
          <p:nvPr/>
        </p:nvSpPr>
        <p:spPr>
          <a:xfrm>
            <a:off x="16100480" y="333863"/>
            <a:ext cx="1272540" cy="328930"/>
          </a:xfrm>
          <a:prstGeom prst="rect">
            <a:avLst/>
          </a:prstGeom>
        </p:spPr>
        <p:txBody>
          <a:bodyPr vert="horz" wrap="square" lIns="0" tIns="11430" rIns="0" bIns="0" rtlCol="0">
            <a:spAutoFit/>
          </a:bodyPr>
          <a:lstStyle/>
          <a:p>
            <a:pPr marL="12700">
              <a:lnSpc>
                <a:spcPct val="100000"/>
              </a:lnSpc>
              <a:spcBef>
                <a:spcPts val="90"/>
              </a:spcBef>
            </a:pPr>
            <a:r>
              <a:rPr sz="2000" spc="-10" dirty="0">
                <a:latin typeface="Century"/>
                <a:cs typeface="Century"/>
              </a:rPr>
              <a:t>Date</a:t>
            </a:r>
            <a:r>
              <a:rPr sz="2000" spc="-120" dirty="0">
                <a:latin typeface="Century"/>
                <a:cs typeface="Century"/>
              </a:rPr>
              <a:t> </a:t>
            </a:r>
            <a:r>
              <a:rPr sz="2000" spc="-20" dirty="0">
                <a:latin typeface="Century"/>
                <a:cs typeface="Century"/>
              </a:rPr>
              <a:t>20XX</a:t>
            </a:r>
            <a:endParaRPr sz="2000">
              <a:latin typeface="Century"/>
              <a:cs typeface="Century"/>
            </a:endParaRPr>
          </a:p>
        </p:txBody>
      </p:sp>
      <p:pic>
        <p:nvPicPr>
          <p:cNvPr id="10" name="object 10"/>
          <p:cNvPicPr/>
          <p:nvPr/>
        </p:nvPicPr>
        <p:blipFill>
          <a:blip r:embed="rId2" cstate="print"/>
          <a:stretch>
            <a:fillRect/>
          </a:stretch>
        </p:blipFill>
        <p:spPr>
          <a:xfrm>
            <a:off x="918210" y="384480"/>
            <a:ext cx="1679689" cy="558494"/>
          </a:xfrm>
          <a:prstGeom prst="rect">
            <a:avLst/>
          </a:prstGeom>
        </p:spPr>
      </p:pic>
      <p:sp>
        <p:nvSpPr>
          <p:cNvPr id="11" name="object 11"/>
          <p:cNvSpPr txBox="1"/>
          <p:nvPr/>
        </p:nvSpPr>
        <p:spPr>
          <a:xfrm>
            <a:off x="9617075" y="4490471"/>
            <a:ext cx="5741670" cy="2159000"/>
          </a:xfrm>
          <a:prstGeom prst="rect">
            <a:avLst/>
          </a:prstGeom>
        </p:spPr>
        <p:txBody>
          <a:bodyPr vert="horz" wrap="square" lIns="0" tIns="12700" rIns="0" bIns="0" rtlCol="0">
            <a:spAutoFit/>
          </a:bodyPr>
          <a:lstStyle/>
          <a:p>
            <a:pPr marL="12700">
              <a:lnSpc>
                <a:spcPct val="100000"/>
              </a:lnSpc>
              <a:spcBef>
                <a:spcPts val="100"/>
              </a:spcBef>
            </a:pPr>
            <a:r>
              <a:rPr sz="14000" b="1" spc="-25" dirty="0">
                <a:latin typeface="Lucida Sans"/>
                <a:cs typeface="Lucida Sans"/>
              </a:rPr>
              <a:t>Thank</a:t>
            </a:r>
            <a:endParaRPr sz="14000">
              <a:latin typeface="Lucida Sans"/>
              <a:cs typeface="Lucida Sans"/>
            </a:endParaRPr>
          </a:p>
        </p:txBody>
      </p:sp>
      <p:sp>
        <p:nvSpPr>
          <p:cNvPr id="12" name="object 12"/>
          <p:cNvSpPr txBox="1"/>
          <p:nvPr/>
        </p:nvSpPr>
        <p:spPr>
          <a:xfrm>
            <a:off x="9617075" y="6144011"/>
            <a:ext cx="3945890" cy="2159000"/>
          </a:xfrm>
          <a:prstGeom prst="rect">
            <a:avLst/>
          </a:prstGeom>
        </p:spPr>
        <p:txBody>
          <a:bodyPr vert="horz" wrap="square" lIns="0" tIns="12700" rIns="0" bIns="0" rtlCol="0">
            <a:spAutoFit/>
          </a:bodyPr>
          <a:lstStyle/>
          <a:p>
            <a:pPr marL="12700">
              <a:lnSpc>
                <a:spcPct val="100000"/>
              </a:lnSpc>
              <a:spcBef>
                <a:spcPts val="100"/>
              </a:spcBef>
            </a:pPr>
            <a:r>
              <a:rPr sz="14000" b="1" spc="-735" dirty="0">
                <a:latin typeface="Lucida Sans"/>
                <a:cs typeface="Lucida Sans"/>
              </a:rPr>
              <a:t>Y</a:t>
            </a:r>
            <a:r>
              <a:rPr sz="14000" b="1" spc="140" dirty="0">
                <a:latin typeface="Lucida Sans"/>
                <a:cs typeface="Lucida Sans"/>
              </a:rPr>
              <a:t>ou!</a:t>
            </a:r>
            <a:endParaRPr sz="14000">
              <a:latin typeface="Lucida Sans"/>
              <a:cs typeface="Lucida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416</TotalTime>
  <Words>1111</Words>
  <Application>Microsoft Office PowerPoint</Application>
  <PresentationFormat>Custom</PresentationFormat>
  <Paragraphs>176</Paragraphs>
  <Slides>33</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Century</vt:lpstr>
      <vt:lpstr>Century Gothic</vt:lpstr>
      <vt:lpstr>Lucida Sans</vt:lpstr>
      <vt:lpstr>Wingdings</vt:lpstr>
      <vt:lpstr>Office Theme</vt:lpstr>
      <vt:lpstr>Reinforcement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Shaban Ghias Satti</cp:lastModifiedBy>
  <cp:revision>186</cp:revision>
  <dcterms:created xsi:type="dcterms:W3CDTF">2026-01-16T17:54:24Z</dcterms:created>
  <dcterms:modified xsi:type="dcterms:W3CDTF">2026-02-04T05:44:02Z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2026-01-16T00:00:00Z</vt:filetime>
  </property>
  <property fmtid="{D5CDD505-2E9C-101B-9397-08002B2CF9AE}" pid="3" name="CreationClient">
    <vt:lpwstr>authoring</vt:lpwstr>
  </property>
  <property fmtid="{D5CDD505-2E9C-101B-9397-08002B2CF9AE}" pid="4" name="Creator">
    <vt:lpwstr>Adobe Express</vt:lpwstr>
  </property>
  <property fmtid="{D5CDD505-2E9C-101B-9397-08002B2CF9AE}" pid="5" name="LastSaved">
    <vt:filetime>2026-01-16T00:00:00Z</vt:filetime>
  </property>
  <property fmtid="{D5CDD505-2E9C-101B-9397-08002B2CF9AE}" pid="6" name="Producer">
    <vt:lpwstr>Adobe Express</vt:lpwstr>
  </property>
</Properties>
</file>